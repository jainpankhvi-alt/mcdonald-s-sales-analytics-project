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Helvetica World" panose="020B0604020202020204" charset="-128"/>
      <p:regular r:id="rId15"/>
    </p:embeddedFont>
    <p:embeddedFont>
      <p:font typeface="Helvetica World Bold" panose="020B0604020202020204" charset="-128"/>
      <p:regular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7BE12-D02F-4BDF-92C4-244F51CCF6BB}" v="2" dt="2026-05-07T17:30:19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64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pankhvi@gmail.com" userId="331a4d69ddeba8ab" providerId="LiveId" clId="{E61055B7-8BE7-4CF6-A41C-CE514638653E}"/>
    <pc:docChg chg="custSel delSld modSld">
      <pc:chgData name="jainpankhvi@gmail.com" userId="331a4d69ddeba8ab" providerId="LiveId" clId="{E61055B7-8BE7-4CF6-A41C-CE514638653E}" dt="2026-05-07T17:08:37.901" v="2" actId="14100"/>
      <pc:docMkLst>
        <pc:docMk/>
      </pc:docMkLst>
      <pc:sldChg chg="delSp modSp mod">
        <pc:chgData name="jainpankhvi@gmail.com" userId="331a4d69ddeba8ab" providerId="LiveId" clId="{E61055B7-8BE7-4CF6-A41C-CE514638653E}" dt="2026-05-07T17:08:37.901" v="2" actId="14100"/>
        <pc:sldMkLst>
          <pc:docMk/>
          <pc:sldMk cId="0" sldId="258"/>
        </pc:sldMkLst>
        <pc:spChg chg="del">
          <ac:chgData name="jainpankhvi@gmail.com" userId="331a4d69ddeba8ab" providerId="LiveId" clId="{E61055B7-8BE7-4CF6-A41C-CE514638653E}" dt="2026-05-07T17:01:49.645" v="0" actId="478"/>
          <ac:spMkLst>
            <pc:docMk/>
            <pc:sldMk cId="0" sldId="258"/>
            <ac:spMk id="22" creationId="{00000000-0000-0000-0000-000000000000}"/>
          </ac:spMkLst>
        </pc:spChg>
        <pc:grpChg chg="mod">
          <ac:chgData name="jainpankhvi@gmail.com" userId="331a4d69ddeba8ab" providerId="LiveId" clId="{E61055B7-8BE7-4CF6-A41C-CE514638653E}" dt="2026-05-07T17:08:37.901" v="2" actId="14100"/>
          <ac:grpSpMkLst>
            <pc:docMk/>
            <pc:sldMk cId="0" sldId="258"/>
            <ac:grpSpMk id="14" creationId="{00000000-0000-0000-0000-000000000000}"/>
          </ac:grpSpMkLst>
        </pc:grpChg>
      </pc:sldChg>
      <pc:sldChg chg="del">
        <pc:chgData name="jainpankhvi@gmail.com" userId="331a4d69ddeba8ab" providerId="LiveId" clId="{E61055B7-8BE7-4CF6-A41C-CE514638653E}" dt="2026-05-07T17:02:23.508" v="1" actId="2696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svg"/><Relationship Id="rId7" Type="http://schemas.openxmlformats.org/officeDocument/2006/relationships/image" Target="../media/image2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3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5.sv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5.sv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2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5460393"/>
            <a:ext cx="18288000" cy="4998057"/>
            <a:chOff x="0" y="0"/>
            <a:chExt cx="4816593" cy="13163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316361"/>
            </a:xfrm>
            <a:custGeom>
              <a:avLst/>
              <a:gdLst/>
              <a:ahLst/>
              <a:cxnLst/>
              <a:rect l="l" t="t" r="r" b="b"/>
              <a:pathLst>
                <a:path w="4816592" h="1316361">
                  <a:moveTo>
                    <a:pt x="0" y="0"/>
                  </a:moveTo>
                  <a:lnTo>
                    <a:pt x="4816592" y="0"/>
                  </a:lnTo>
                  <a:lnTo>
                    <a:pt x="4816592" y="1316361"/>
                  </a:lnTo>
                  <a:lnTo>
                    <a:pt x="0" y="1316361"/>
                  </a:ln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0"/>
                  </a:srgbClr>
                </a:gs>
                <a:gs pos="100000">
                  <a:srgbClr val="0D0D0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1354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27921" y="2364363"/>
            <a:ext cx="4305300" cy="6333953"/>
            <a:chOff x="0" y="0"/>
            <a:chExt cx="1133906" cy="16682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3906" cy="1668202"/>
            </a:xfrm>
            <a:custGeom>
              <a:avLst/>
              <a:gdLst/>
              <a:ahLst/>
              <a:cxnLst/>
              <a:rect l="l" t="t" r="r" b="b"/>
              <a:pathLst>
                <a:path w="1133906" h="1668202">
                  <a:moveTo>
                    <a:pt x="120481" y="0"/>
                  </a:moveTo>
                  <a:lnTo>
                    <a:pt x="1013425" y="0"/>
                  </a:lnTo>
                  <a:cubicBezTo>
                    <a:pt x="1045378" y="0"/>
                    <a:pt x="1076023" y="12694"/>
                    <a:pt x="1098618" y="35288"/>
                  </a:cubicBezTo>
                  <a:cubicBezTo>
                    <a:pt x="1121213" y="57883"/>
                    <a:pt x="1133906" y="88528"/>
                    <a:pt x="1133906" y="120481"/>
                  </a:cubicBezTo>
                  <a:lnTo>
                    <a:pt x="1133906" y="1547720"/>
                  </a:lnTo>
                  <a:cubicBezTo>
                    <a:pt x="1133906" y="1579674"/>
                    <a:pt x="1121213" y="1610319"/>
                    <a:pt x="1098618" y="1632914"/>
                  </a:cubicBezTo>
                  <a:cubicBezTo>
                    <a:pt x="1076023" y="1655508"/>
                    <a:pt x="1045378" y="1668202"/>
                    <a:pt x="1013425" y="1668202"/>
                  </a:cubicBezTo>
                  <a:lnTo>
                    <a:pt x="120481" y="1668202"/>
                  </a:lnTo>
                  <a:cubicBezTo>
                    <a:pt x="88528" y="1668202"/>
                    <a:pt x="57883" y="1655508"/>
                    <a:pt x="35288" y="1632914"/>
                  </a:cubicBezTo>
                  <a:cubicBezTo>
                    <a:pt x="12694" y="1610319"/>
                    <a:pt x="0" y="1579674"/>
                    <a:pt x="0" y="1547720"/>
                  </a:cubicBezTo>
                  <a:lnTo>
                    <a:pt x="0" y="120481"/>
                  </a:lnTo>
                  <a:cubicBezTo>
                    <a:pt x="0" y="88528"/>
                    <a:pt x="12694" y="57883"/>
                    <a:pt x="35288" y="35288"/>
                  </a:cubicBezTo>
                  <a:cubicBezTo>
                    <a:pt x="57883" y="12694"/>
                    <a:pt x="88528" y="0"/>
                    <a:pt x="120481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33906" cy="1706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94532" y="7959421"/>
            <a:ext cx="3199759" cy="644824"/>
            <a:chOff x="0" y="0"/>
            <a:chExt cx="842735" cy="1698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2735" cy="169830"/>
            </a:xfrm>
            <a:custGeom>
              <a:avLst/>
              <a:gdLst/>
              <a:ahLst/>
              <a:cxnLst/>
              <a:rect l="l" t="t" r="r" b="b"/>
              <a:pathLst>
                <a:path w="842735" h="169830">
                  <a:moveTo>
                    <a:pt x="84915" y="0"/>
                  </a:moveTo>
                  <a:lnTo>
                    <a:pt x="757820" y="0"/>
                  </a:lnTo>
                  <a:cubicBezTo>
                    <a:pt x="804717" y="0"/>
                    <a:pt x="842735" y="38018"/>
                    <a:pt x="842735" y="84915"/>
                  </a:cubicBezTo>
                  <a:lnTo>
                    <a:pt x="842735" y="84915"/>
                  </a:lnTo>
                  <a:cubicBezTo>
                    <a:pt x="842735" y="107436"/>
                    <a:pt x="833788" y="129035"/>
                    <a:pt x="817864" y="144959"/>
                  </a:cubicBezTo>
                  <a:cubicBezTo>
                    <a:pt x="801939" y="160884"/>
                    <a:pt x="780341" y="169830"/>
                    <a:pt x="757820" y="169830"/>
                  </a:cubicBezTo>
                  <a:lnTo>
                    <a:pt x="84915" y="169830"/>
                  </a:lnTo>
                  <a:cubicBezTo>
                    <a:pt x="38018" y="169830"/>
                    <a:pt x="0" y="131812"/>
                    <a:pt x="0" y="84915"/>
                  </a:cubicBezTo>
                  <a:lnTo>
                    <a:pt x="0" y="84915"/>
                  </a:lnTo>
                  <a:cubicBezTo>
                    <a:pt x="0" y="38018"/>
                    <a:pt x="38018" y="0"/>
                    <a:pt x="84915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42735" cy="207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76837" y="2837208"/>
            <a:ext cx="3464619" cy="3723250"/>
            <a:chOff x="0" y="0"/>
            <a:chExt cx="812800" cy="8734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73475"/>
            </a:xfrm>
            <a:custGeom>
              <a:avLst/>
              <a:gdLst/>
              <a:ahLst/>
              <a:cxnLst/>
              <a:rect l="l" t="t" r="r" b="b"/>
              <a:pathLst>
                <a:path w="812800" h="873475">
                  <a:moveTo>
                    <a:pt x="51395" y="0"/>
                  </a:moveTo>
                  <a:lnTo>
                    <a:pt x="761405" y="0"/>
                  </a:lnTo>
                  <a:cubicBezTo>
                    <a:pt x="789790" y="0"/>
                    <a:pt x="812800" y="23010"/>
                    <a:pt x="812800" y="51395"/>
                  </a:cubicBezTo>
                  <a:lnTo>
                    <a:pt x="812800" y="822080"/>
                  </a:lnTo>
                  <a:cubicBezTo>
                    <a:pt x="812800" y="850465"/>
                    <a:pt x="789790" y="873475"/>
                    <a:pt x="761405" y="873475"/>
                  </a:cubicBezTo>
                  <a:lnTo>
                    <a:pt x="51395" y="873475"/>
                  </a:lnTo>
                  <a:cubicBezTo>
                    <a:pt x="23010" y="873475"/>
                    <a:pt x="0" y="850465"/>
                    <a:pt x="0" y="822080"/>
                  </a:cubicBezTo>
                  <a:lnTo>
                    <a:pt x="0" y="51395"/>
                  </a:lnTo>
                  <a:cubicBezTo>
                    <a:pt x="0" y="23010"/>
                    <a:pt x="23010" y="0"/>
                    <a:pt x="51395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5900206" y="786535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97491" y="1675918"/>
            <a:ext cx="7323924" cy="5438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28"/>
              </a:lnSpc>
            </a:pPr>
            <a:r>
              <a:rPr lang="en-US" sz="11118" b="1" spc="-55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McDonald’s Data Analytics Project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922501"/>
            <a:ext cx="4234623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9"/>
              </a:lnSpc>
            </a:pPr>
            <a:r>
              <a:rPr lang="en-US" sz="2499" b="1" spc="-12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Data-Driven Business Intelligence 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62900" y="8161183"/>
            <a:ext cx="2863023" cy="20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64"/>
              </a:lnSpc>
            </a:pPr>
            <a:r>
              <a:rPr lang="en-US" sz="1464" b="1" spc="-73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8265" y="687912"/>
            <a:ext cx="194936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75814" y="687912"/>
            <a:ext cx="115869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00206" y="687912"/>
            <a:ext cx="1740094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Insights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76837" y="7097558"/>
            <a:ext cx="3464619" cy="102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This presentation showcases a comprehensive sales analytics project built using Excel, Power Query, and interactive dashboards.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921354" y="4971682"/>
            <a:ext cx="6119078" cy="1765146"/>
            <a:chOff x="0" y="0"/>
            <a:chExt cx="1611609" cy="464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1609" cy="464894"/>
            </a:xfrm>
            <a:custGeom>
              <a:avLst/>
              <a:gdLst/>
              <a:ahLst/>
              <a:cxnLst/>
              <a:rect l="l" t="t" r="r" b="b"/>
              <a:pathLst>
                <a:path w="1611609" h="464894">
                  <a:moveTo>
                    <a:pt x="41752" y="0"/>
                  </a:moveTo>
                  <a:lnTo>
                    <a:pt x="1569857" y="0"/>
                  </a:lnTo>
                  <a:cubicBezTo>
                    <a:pt x="1580931" y="0"/>
                    <a:pt x="1591550" y="4399"/>
                    <a:pt x="1599380" y="12229"/>
                  </a:cubicBezTo>
                  <a:cubicBezTo>
                    <a:pt x="1607210" y="20059"/>
                    <a:pt x="1611609" y="30679"/>
                    <a:pt x="1611609" y="41752"/>
                  </a:cubicBezTo>
                  <a:lnTo>
                    <a:pt x="1611609" y="423142"/>
                  </a:lnTo>
                  <a:cubicBezTo>
                    <a:pt x="1611609" y="446201"/>
                    <a:pt x="1592916" y="464894"/>
                    <a:pt x="1569857" y="464894"/>
                  </a:cubicBezTo>
                  <a:lnTo>
                    <a:pt x="41752" y="464894"/>
                  </a:lnTo>
                  <a:cubicBezTo>
                    <a:pt x="30679" y="464894"/>
                    <a:pt x="20059" y="460495"/>
                    <a:pt x="12229" y="452665"/>
                  </a:cubicBezTo>
                  <a:cubicBezTo>
                    <a:pt x="4399" y="444835"/>
                    <a:pt x="0" y="434216"/>
                    <a:pt x="0" y="423142"/>
                  </a:cubicBezTo>
                  <a:lnTo>
                    <a:pt x="0" y="41752"/>
                  </a:lnTo>
                  <a:cubicBezTo>
                    <a:pt x="0" y="30679"/>
                    <a:pt x="4399" y="20059"/>
                    <a:pt x="12229" y="12229"/>
                  </a:cubicBezTo>
                  <a:cubicBezTo>
                    <a:pt x="20059" y="4399"/>
                    <a:pt x="30679" y="0"/>
                    <a:pt x="41752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11609" cy="502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9973715">
            <a:off x="-251860" y="801984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189042" y="1699111"/>
            <a:ext cx="10558607" cy="7303513"/>
            <a:chOff x="0" y="0"/>
            <a:chExt cx="2477050" cy="17134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77050" cy="1713405"/>
            </a:xfrm>
            <a:custGeom>
              <a:avLst/>
              <a:gdLst/>
              <a:ahLst/>
              <a:cxnLst/>
              <a:rect l="l" t="t" r="r" b="b"/>
              <a:pathLst>
                <a:path w="2477050" h="1713405">
                  <a:moveTo>
                    <a:pt x="16864" y="0"/>
                  </a:moveTo>
                  <a:lnTo>
                    <a:pt x="2460186" y="0"/>
                  </a:lnTo>
                  <a:cubicBezTo>
                    <a:pt x="2464659" y="0"/>
                    <a:pt x="2468948" y="1777"/>
                    <a:pt x="2472111" y="4939"/>
                  </a:cubicBezTo>
                  <a:cubicBezTo>
                    <a:pt x="2475274" y="8102"/>
                    <a:pt x="2477050" y="12392"/>
                    <a:pt x="2477050" y="16864"/>
                  </a:cubicBezTo>
                  <a:lnTo>
                    <a:pt x="2477050" y="1696541"/>
                  </a:lnTo>
                  <a:cubicBezTo>
                    <a:pt x="2477050" y="1701013"/>
                    <a:pt x="2475274" y="1705303"/>
                    <a:pt x="2472111" y="1708466"/>
                  </a:cubicBezTo>
                  <a:cubicBezTo>
                    <a:pt x="2468948" y="1711628"/>
                    <a:pt x="2464659" y="1713405"/>
                    <a:pt x="2460186" y="1713405"/>
                  </a:cubicBezTo>
                  <a:lnTo>
                    <a:pt x="16864" y="1713405"/>
                  </a:lnTo>
                  <a:cubicBezTo>
                    <a:pt x="12392" y="1713405"/>
                    <a:pt x="8102" y="1711628"/>
                    <a:pt x="4939" y="1708466"/>
                  </a:cubicBezTo>
                  <a:cubicBezTo>
                    <a:pt x="1777" y="1705303"/>
                    <a:pt x="0" y="1701013"/>
                    <a:pt x="0" y="1696541"/>
                  </a:cubicBezTo>
                  <a:lnTo>
                    <a:pt x="0" y="16864"/>
                  </a:lnTo>
                  <a:cubicBezTo>
                    <a:pt x="0" y="12392"/>
                    <a:pt x="1777" y="8102"/>
                    <a:pt x="4939" y="4939"/>
                  </a:cubicBezTo>
                  <a:cubicBezTo>
                    <a:pt x="8102" y="1777"/>
                    <a:pt x="12392" y="0"/>
                    <a:pt x="16864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921354" y="1913213"/>
            <a:ext cx="6551461" cy="229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21354" y="7252906"/>
            <a:ext cx="6551461" cy="114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Analyzing McDonald's sales performance across multiple dimensions to uncover actionable insights and drive strategic business decisions using advanced Excel analytics and interactive dashboards.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8265" y="687912"/>
            <a:ext cx="1949360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75814" y="687912"/>
            <a:ext cx="1158690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00206" y="687912"/>
            <a:ext cx="1740094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62088" y="5400229"/>
            <a:ext cx="3389915" cy="117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399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07964" y="5409755"/>
            <a:ext cx="2232469" cy="74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9"/>
              </a:lnSpc>
            </a:pPr>
            <a:r>
              <a:rPr lang="en-US" sz="2014" b="1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Analytics Tools Utilized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8092" y="722490"/>
            <a:ext cx="435752" cy="302230"/>
          </a:xfrm>
          <a:custGeom>
            <a:avLst/>
            <a:gdLst/>
            <a:ahLst/>
            <a:cxnLst/>
            <a:rect l="l" t="t" r="r" b="b"/>
            <a:pathLst>
              <a:path w="435752" h="302230">
                <a:moveTo>
                  <a:pt x="0" y="0"/>
                </a:moveTo>
                <a:lnTo>
                  <a:pt x="435752" y="0"/>
                </a:lnTo>
                <a:lnTo>
                  <a:pt x="435752" y="302230"/>
                </a:lnTo>
                <a:lnTo>
                  <a:pt x="0" y="30223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288535" y="2143351"/>
            <a:ext cx="742407" cy="7424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3500795" y="2429592"/>
            <a:ext cx="317887" cy="169925"/>
          </a:xfrm>
          <a:custGeom>
            <a:avLst/>
            <a:gdLst/>
            <a:ahLst/>
            <a:cxnLst/>
            <a:rect l="l" t="t" r="r" b="b"/>
            <a:pathLst>
              <a:path w="317887" h="169925">
                <a:moveTo>
                  <a:pt x="0" y="0"/>
                </a:moveTo>
                <a:lnTo>
                  <a:pt x="317886" y="0"/>
                </a:lnTo>
                <a:lnTo>
                  <a:pt x="317886" y="169925"/>
                </a:lnTo>
                <a:lnTo>
                  <a:pt x="0" y="169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652515" y="2143351"/>
            <a:ext cx="742407" cy="7424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5400000">
            <a:off x="7864775" y="2429592"/>
            <a:ext cx="317887" cy="169925"/>
          </a:xfrm>
          <a:custGeom>
            <a:avLst/>
            <a:gdLst/>
            <a:ahLst/>
            <a:cxnLst/>
            <a:rect l="l" t="t" r="r" b="b"/>
            <a:pathLst>
              <a:path w="317887" h="169925">
                <a:moveTo>
                  <a:pt x="0" y="0"/>
                </a:moveTo>
                <a:lnTo>
                  <a:pt x="317887" y="0"/>
                </a:lnTo>
                <a:lnTo>
                  <a:pt x="317887" y="169925"/>
                </a:lnTo>
                <a:lnTo>
                  <a:pt x="0" y="169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9973715">
            <a:off x="14611474" y="6348532"/>
            <a:ext cx="5857124" cy="5542052"/>
          </a:xfrm>
          <a:custGeom>
            <a:avLst/>
            <a:gdLst/>
            <a:ahLst/>
            <a:cxnLst/>
            <a:rect l="l" t="t" r="r" b="b"/>
            <a:pathLst>
              <a:path w="5857124" h="5542052">
                <a:moveTo>
                  <a:pt x="0" y="0"/>
                </a:moveTo>
                <a:lnTo>
                  <a:pt x="5857124" y="0"/>
                </a:lnTo>
                <a:lnTo>
                  <a:pt x="5857124" y="5542051"/>
                </a:lnTo>
                <a:lnTo>
                  <a:pt x="0" y="55420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938756" y="4103642"/>
            <a:ext cx="9294465" cy="4752000"/>
            <a:chOff x="0" y="0"/>
            <a:chExt cx="2180483" cy="11129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0483" cy="1112910"/>
            </a:xfrm>
            <a:custGeom>
              <a:avLst/>
              <a:gdLst/>
              <a:ahLst/>
              <a:cxnLst/>
              <a:rect l="l" t="t" r="r" b="b"/>
              <a:pathLst>
                <a:path w="2180483" h="1112910">
                  <a:moveTo>
                    <a:pt x="19158" y="0"/>
                  </a:moveTo>
                  <a:lnTo>
                    <a:pt x="2161324" y="0"/>
                  </a:lnTo>
                  <a:cubicBezTo>
                    <a:pt x="2166406" y="0"/>
                    <a:pt x="2171279" y="2018"/>
                    <a:pt x="2174871" y="5611"/>
                  </a:cubicBezTo>
                  <a:cubicBezTo>
                    <a:pt x="2178464" y="9204"/>
                    <a:pt x="2180483" y="14077"/>
                    <a:pt x="2180483" y="19158"/>
                  </a:cubicBezTo>
                  <a:lnTo>
                    <a:pt x="2180483" y="1093752"/>
                  </a:lnTo>
                  <a:cubicBezTo>
                    <a:pt x="2180483" y="1098833"/>
                    <a:pt x="2178464" y="1103706"/>
                    <a:pt x="2174871" y="1107299"/>
                  </a:cubicBezTo>
                  <a:cubicBezTo>
                    <a:pt x="2171279" y="1110892"/>
                    <a:pt x="2166406" y="1112910"/>
                    <a:pt x="2161324" y="1112910"/>
                  </a:cubicBezTo>
                  <a:lnTo>
                    <a:pt x="19158" y="1112910"/>
                  </a:lnTo>
                  <a:cubicBezTo>
                    <a:pt x="14077" y="1112910"/>
                    <a:pt x="9204" y="1110892"/>
                    <a:pt x="5611" y="1107299"/>
                  </a:cubicBezTo>
                  <a:cubicBezTo>
                    <a:pt x="2018" y="1103706"/>
                    <a:pt x="0" y="1098833"/>
                    <a:pt x="0" y="1093752"/>
                  </a:cubicBezTo>
                  <a:lnTo>
                    <a:pt x="0" y="19158"/>
                  </a:lnTo>
                  <a:cubicBezTo>
                    <a:pt x="0" y="14077"/>
                    <a:pt x="2018" y="9204"/>
                    <a:pt x="5611" y="5611"/>
                  </a:cubicBezTo>
                  <a:cubicBezTo>
                    <a:pt x="9204" y="2018"/>
                    <a:pt x="14077" y="0"/>
                    <a:pt x="19158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36462" y="1775192"/>
            <a:ext cx="5484567" cy="1828519"/>
            <a:chOff x="0" y="0"/>
            <a:chExt cx="1286680" cy="4289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6680" cy="428971"/>
            </a:xfrm>
            <a:custGeom>
              <a:avLst/>
              <a:gdLst/>
              <a:ahLst/>
              <a:cxnLst/>
              <a:rect l="l" t="t" r="r" b="b"/>
              <a:pathLst>
                <a:path w="1286680" h="428971">
                  <a:moveTo>
                    <a:pt x="32466" y="0"/>
                  </a:moveTo>
                  <a:lnTo>
                    <a:pt x="1254214" y="0"/>
                  </a:lnTo>
                  <a:cubicBezTo>
                    <a:pt x="1262824" y="0"/>
                    <a:pt x="1271082" y="3421"/>
                    <a:pt x="1277171" y="9509"/>
                  </a:cubicBezTo>
                  <a:cubicBezTo>
                    <a:pt x="1283259" y="15598"/>
                    <a:pt x="1286680" y="23856"/>
                    <a:pt x="1286680" y="32466"/>
                  </a:cubicBezTo>
                  <a:lnTo>
                    <a:pt x="1286680" y="396504"/>
                  </a:lnTo>
                  <a:cubicBezTo>
                    <a:pt x="1286680" y="414435"/>
                    <a:pt x="1272144" y="428971"/>
                    <a:pt x="1254214" y="428971"/>
                  </a:cubicBezTo>
                  <a:lnTo>
                    <a:pt x="32466" y="428971"/>
                  </a:lnTo>
                  <a:cubicBezTo>
                    <a:pt x="23856" y="428971"/>
                    <a:pt x="15598" y="425550"/>
                    <a:pt x="9509" y="419462"/>
                  </a:cubicBezTo>
                  <a:cubicBezTo>
                    <a:pt x="3421" y="413373"/>
                    <a:pt x="0" y="405115"/>
                    <a:pt x="0" y="396504"/>
                  </a:cubicBezTo>
                  <a:lnTo>
                    <a:pt x="0" y="32466"/>
                  </a:lnTo>
                  <a:cubicBezTo>
                    <a:pt x="0" y="23856"/>
                    <a:pt x="3421" y="15598"/>
                    <a:pt x="9509" y="9509"/>
                  </a:cubicBezTo>
                  <a:cubicBezTo>
                    <a:pt x="15598" y="3421"/>
                    <a:pt x="23856" y="0"/>
                    <a:pt x="32466" y="0"/>
                  </a:cubicBezTo>
                  <a:close/>
                </a:path>
              </a:pathLst>
            </a:custGeom>
            <a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28700" y="4508586"/>
            <a:ext cx="6090331" cy="229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Stack &amp; Tools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7275" y="7812453"/>
            <a:ext cx="5898643" cy="87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with Excel, Power Query, Power Pivot, Data Modeling, DAX Measures, Pivot Tables, and Interactive Dashboards for comprehensive analytics.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76813" y="1982742"/>
            <a:ext cx="3055439" cy="87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DAX Measures &amp; Pivot Tables for dynamic calculations and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40794" y="1982742"/>
            <a:ext cx="3746792" cy="87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 Query &amp; Power Pivot for advanced ETL processes and data modeling capabilities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8265" y="687912"/>
            <a:ext cx="1949360" cy="57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75814" y="687912"/>
            <a:ext cx="1158690" cy="28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00206" y="687912"/>
            <a:ext cx="1740094" cy="28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</a:pPr>
            <a:r>
              <a:rPr lang="en-US" sz="16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10240" y="5575965"/>
            <a:ext cx="4867873" cy="5147913"/>
            <a:chOff x="0" y="0"/>
            <a:chExt cx="5329433" cy="5636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29434" cy="5636026"/>
            </a:xfrm>
            <a:custGeom>
              <a:avLst/>
              <a:gdLst/>
              <a:ahLst/>
              <a:cxnLst/>
              <a:rect l="l" t="t" r="r" b="b"/>
              <a:pathLst>
                <a:path w="5329434" h="5636026">
                  <a:moveTo>
                    <a:pt x="60436" y="0"/>
                  </a:moveTo>
                  <a:lnTo>
                    <a:pt x="5268998" y="0"/>
                  </a:lnTo>
                  <a:cubicBezTo>
                    <a:pt x="5302376" y="0"/>
                    <a:pt x="5329434" y="27058"/>
                    <a:pt x="5329434" y="60436"/>
                  </a:cubicBezTo>
                  <a:lnTo>
                    <a:pt x="5329434" y="5575591"/>
                  </a:lnTo>
                  <a:cubicBezTo>
                    <a:pt x="5329434" y="5608968"/>
                    <a:pt x="5302376" y="5636026"/>
                    <a:pt x="5268998" y="5636026"/>
                  </a:cubicBezTo>
                  <a:lnTo>
                    <a:pt x="60436" y="5636026"/>
                  </a:lnTo>
                  <a:cubicBezTo>
                    <a:pt x="27058" y="5636026"/>
                    <a:pt x="0" y="5608968"/>
                    <a:pt x="0" y="5575591"/>
                  </a:cubicBezTo>
                  <a:lnTo>
                    <a:pt x="0" y="60436"/>
                  </a:lnTo>
                  <a:cubicBezTo>
                    <a:pt x="0" y="27058"/>
                    <a:pt x="27058" y="0"/>
                    <a:pt x="60436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29433" cy="5674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6693" y="746941"/>
            <a:ext cx="264289" cy="257769"/>
          </a:xfrm>
          <a:custGeom>
            <a:avLst/>
            <a:gdLst/>
            <a:ahLst/>
            <a:cxnLst/>
            <a:rect l="l" t="t" r="r" b="b"/>
            <a:pathLst>
              <a:path w="264289" h="257769">
                <a:moveTo>
                  <a:pt x="0" y="0"/>
                </a:moveTo>
                <a:lnTo>
                  <a:pt x="264289" y="0"/>
                </a:lnTo>
                <a:lnTo>
                  <a:pt x="264289" y="257769"/>
                </a:lnTo>
                <a:lnTo>
                  <a:pt x="0" y="25776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267538" y="-417746"/>
            <a:ext cx="9991762" cy="5561246"/>
            <a:chOff x="0" y="0"/>
            <a:chExt cx="2344068" cy="1304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44069" cy="1304669"/>
            </a:xfrm>
            <a:custGeom>
              <a:avLst/>
              <a:gdLst/>
              <a:ahLst/>
              <a:cxnLst/>
              <a:rect l="l" t="t" r="r" b="b"/>
              <a:pathLst>
                <a:path w="2344069" h="1304669">
                  <a:moveTo>
                    <a:pt x="17821" y="0"/>
                  </a:moveTo>
                  <a:lnTo>
                    <a:pt x="2326248" y="0"/>
                  </a:lnTo>
                  <a:cubicBezTo>
                    <a:pt x="2330974" y="0"/>
                    <a:pt x="2335507" y="1878"/>
                    <a:pt x="2338849" y="5220"/>
                  </a:cubicBezTo>
                  <a:cubicBezTo>
                    <a:pt x="2342191" y="8562"/>
                    <a:pt x="2344069" y="13095"/>
                    <a:pt x="2344069" y="17821"/>
                  </a:cubicBezTo>
                  <a:lnTo>
                    <a:pt x="2344069" y="1286848"/>
                  </a:lnTo>
                  <a:cubicBezTo>
                    <a:pt x="2344069" y="1291574"/>
                    <a:pt x="2342191" y="1296107"/>
                    <a:pt x="2338849" y="1299449"/>
                  </a:cubicBezTo>
                  <a:cubicBezTo>
                    <a:pt x="2335507" y="1302791"/>
                    <a:pt x="2330974" y="1304669"/>
                    <a:pt x="2326248" y="1304669"/>
                  </a:cubicBezTo>
                  <a:lnTo>
                    <a:pt x="17821" y="1304669"/>
                  </a:lnTo>
                  <a:cubicBezTo>
                    <a:pt x="13095" y="1304669"/>
                    <a:pt x="8562" y="1302791"/>
                    <a:pt x="5220" y="1299449"/>
                  </a:cubicBezTo>
                  <a:cubicBezTo>
                    <a:pt x="1878" y="1296107"/>
                    <a:pt x="0" y="1291574"/>
                    <a:pt x="0" y="1286848"/>
                  </a:cubicBezTo>
                  <a:lnTo>
                    <a:pt x="0" y="17821"/>
                  </a:lnTo>
                  <a:cubicBezTo>
                    <a:pt x="0" y="13095"/>
                    <a:pt x="1878" y="8562"/>
                    <a:pt x="5220" y="5220"/>
                  </a:cubicBezTo>
                  <a:cubicBezTo>
                    <a:pt x="8562" y="1878"/>
                    <a:pt x="13095" y="0"/>
                    <a:pt x="17821" y="0"/>
                  </a:cubicBez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9973715">
            <a:off x="15244477" y="7071528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091140" y="5555771"/>
            <a:ext cx="2168160" cy="3361865"/>
            <a:chOff x="0" y="0"/>
            <a:chExt cx="508650" cy="788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650" cy="788694"/>
            </a:xfrm>
            <a:custGeom>
              <a:avLst/>
              <a:gdLst/>
              <a:ahLst/>
              <a:cxnLst/>
              <a:rect l="l" t="t" r="r" b="b"/>
              <a:pathLst>
                <a:path w="508650" h="788694">
                  <a:moveTo>
                    <a:pt x="82127" y="0"/>
                  </a:moveTo>
                  <a:lnTo>
                    <a:pt x="426524" y="0"/>
                  </a:lnTo>
                  <a:cubicBezTo>
                    <a:pt x="448305" y="0"/>
                    <a:pt x="469194" y="8653"/>
                    <a:pt x="484596" y="24054"/>
                  </a:cubicBezTo>
                  <a:cubicBezTo>
                    <a:pt x="499998" y="39456"/>
                    <a:pt x="508650" y="60345"/>
                    <a:pt x="508650" y="82127"/>
                  </a:cubicBezTo>
                  <a:lnTo>
                    <a:pt x="508650" y="706567"/>
                  </a:lnTo>
                  <a:cubicBezTo>
                    <a:pt x="508650" y="751925"/>
                    <a:pt x="471881" y="788694"/>
                    <a:pt x="426524" y="788694"/>
                  </a:cubicBezTo>
                  <a:lnTo>
                    <a:pt x="82127" y="788694"/>
                  </a:lnTo>
                  <a:cubicBezTo>
                    <a:pt x="36769" y="788694"/>
                    <a:pt x="0" y="751925"/>
                    <a:pt x="0" y="706567"/>
                  </a:cubicBezTo>
                  <a:lnTo>
                    <a:pt x="0" y="82127"/>
                  </a:lnTo>
                  <a:cubicBezTo>
                    <a:pt x="0" y="36769"/>
                    <a:pt x="36769" y="0"/>
                    <a:pt x="82127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2056401"/>
            <a:ext cx="5164445" cy="2662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93"/>
              </a:lnSpc>
            </a:pPr>
            <a:r>
              <a:rPr lang="en-US" sz="6193" b="1" spc="-30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Pipeline &amp; Transformation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873062"/>
            <a:ext cx="3708487" cy="826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Raw sales data imported from multiple sources including transaction logs, product catalogs, and store information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42448" y="7873062"/>
            <a:ext cx="3708487" cy="826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1"/>
              </a:lnSpc>
            </a:pPr>
            <a:r>
              <a:rPr lang="en-US" sz="157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Data cleansing, type conversion, column transformations, and automated refresh workflows in Power Query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72238" y="7873062"/>
            <a:ext cx="3708487" cy="826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Star schema design with fact and dimension tables, relationships, and Power Pivot integration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479337"/>
            <a:ext cx="3920140" cy="23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2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Extraction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42448" y="7479337"/>
            <a:ext cx="3920140" cy="23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2"/>
              </a:lnSpc>
            </a:pPr>
            <a:r>
              <a:rPr lang="en-US" sz="2485" b="1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Power Query ETL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72238" y="7479337"/>
            <a:ext cx="3920140" cy="23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2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Modeling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8265" y="687912"/>
            <a:ext cx="1949360" cy="54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Sales Analytics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148031"/>
            <a:ext cx="2144970" cy="90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93"/>
              </a:lnSpc>
            </a:pPr>
            <a:r>
              <a:rPr lang="en-US" sz="6193" b="1" spc="-30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42448" y="6148031"/>
            <a:ext cx="2144970" cy="90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93"/>
              </a:lnSpc>
            </a:pPr>
            <a:r>
              <a:rPr lang="en-US" sz="6193" b="1" spc="-309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72238" y="6148031"/>
            <a:ext cx="2144970" cy="90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93"/>
              </a:lnSpc>
            </a:pPr>
            <a:r>
              <a:rPr lang="en-US" sz="6193" b="1" spc="-30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3895" y="5686556"/>
            <a:ext cx="742407" cy="7424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13895" y="7798713"/>
            <a:ext cx="742407" cy="7424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4689" y="741825"/>
            <a:ext cx="326814" cy="303421"/>
          </a:xfrm>
          <a:custGeom>
            <a:avLst/>
            <a:gdLst/>
            <a:ahLst/>
            <a:cxnLst/>
            <a:rect l="l" t="t" r="r" b="b"/>
            <a:pathLst>
              <a:path w="326814" h="303421">
                <a:moveTo>
                  <a:pt x="0" y="0"/>
                </a:moveTo>
                <a:lnTo>
                  <a:pt x="326814" y="0"/>
                </a:lnTo>
                <a:lnTo>
                  <a:pt x="326814" y="303421"/>
                </a:lnTo>
                <a:lnTo>
                  <a:pt x="0" y="30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36462" y="5143500"/>
            <a:ext cx="5484567" cy="1828519"/>
            <a:chOff x="0" y="0"/>
            <a:chExt cx="1286680" cy="4289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6680" cy="428971"/>
            </a:xfrm>
            <a:custGeom>
              <a:avLst/>
              <a:gdLst/>
              <a:ahLst/>
              <a:cxnLst/>
              <a:rect l="l" t="t" r="r" b="b"/>
              <a:pathLst>
                <a:path w="1286680" h="428971">
                  <a:moveTo>
                    <a:pt x="32466" y="0"/>
                  </a:moveTo>
                  <a:lnTo>
                    <a:pt x="1254214" y="0"/>
                  </a:lnTo>
                  <a:cubicBezTo>
                    <a:pt x="1262824" y="0"/>
                    <a:pt x="1271082" y="3421"/>
                    <a:pt x="1277171" y="9509"/>
                  </a:cubicBezTo>
                  <a:cubicBezTo>
                    <a:pt x="1283259" y="15598"/>
                    <a:pt x="1286680" y="23856"/>
                    <a:pt x="1286680" y="32466"/>
                  </a:cubicBezTo>
                  <a:lnTo>
                    <a:pt x="1286680" y="396504"/>
                  </a:lnTo>
                  <a:cubicBezTo>
                    <a:pt x="1286680" y="414435"/>
                    <a:pt x="1272144" y="428971"/>
                    <a:pt x="1254214" y="428971"/>
                  </a:cubicBezTo>
                  <a:lnTo>
                    <a:pt x="32466" y="428971"/>
                  </a:lnTo>
                  <a:cubicBezTo>
                    <a:pt x="23856" y="428971"/>
                    <a:pt x="15598" y="425550"/>
                    <a:pt x="9509" y="419462"/>
                  </a:cubicBezTo>
                  <a:cubicBezTo>
                    <a:pt x="3421" y="413373"/>
                    <a:pt x="0" y="405115"/>
                    <a:pt x="0" y="396504"/>
                  </a:cubicBezTo>
                  <a:lnTo>
                    <a:pt x="0" y="32466"/>
                  </a:lnTo>
                  <a:cubicBezTo>
                    <a:pt x="0" y="23856"/>
                    <a:pt x="3421" y="15598"/>
                    <a:pt x="9509" y="9509"/>
                  </a:cubicBezTo>
                  <a:cubicBezTo>
                    <a:pt x="15598" y="3421"/>
                    <a:pt x="23856" y="0"/>
                    <a:pt x="32466" y="0"/>
                  </a:cubicBez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 rot="9973715">
            <a:off x="-1182329" y="815952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136462" y="7255657"/>
            <a:ext cx="5484567" cy="1828519"/>
            <a:chOff x="0" y="0"/>
            <a:chExt cx="1286680" cy="4289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6680" cy="428971"/>
            </a:xfrm>
            <a:custGeom>
              <a:avLst/>
              <a:gdLst/>
              <a:ahLst/>
              <a:cxnLst/>
              <a:rect l="l" t="t" r="r" b="b"/>
              <a:pathLst>
                <a:path w="1286680" h="428971">
                  <a:moveTo>
                    <a:pt x="32466" y="0"/>
                  </a:moveTo>
                  <a:lnTo>
                    <a:pt x="1254214" y="0"/>
                  </a:lnTo>
                  <a:cubicBezTo>
                    <a:pt x="1262824" y="0"/>
                    <a:pt x="1271082" y="3421"/>
                    <a:pt x="1277171" y="9509"/>
                  </a:cubicBezTo>
                  <a:cubicBezTo>
                    <a:pt x="1283259" y="15598"/>
                    <a:pt x="1286680" y="23856"/>
                    <a:pt x="1286680" y="32466"/>
                  </a:cubicBezTo>
                  <a:lnTo>
                    <a:pt x="1286680" y="396504"/>
                  </a:lnTo>
                  <a:cubicBezTo>
                    <a:pt x="1286680" y="414435"/>
                    <a:pt x="1272144" y="428971"/>
                    <a:pt x="1254214" y="428971"/>
                  </a:cubicBezTo>
                  <a:lnTo>
                    <a:pt x="32466" y="428971"/>
                  </a:lnTo>
                  <a:cubicBezTo>
                    <a:pt x="23856" y="428971"/>
                    <a:pt x="15598" y="425550"/>
                    <a:pt x="9509" y="419462"/>
                  </a:cubicBezTo>
                  <a:cubicBezTo>
                    <a:pt x="3421" y="413373"/>
                    <a:pt x="0" y="405115"/>
                    <a:pt x="0" y="396504"/>
                  </a:cubicBezTo>
                  <a:lnTo>
                    <a:pt x="0" y="32466"/>
                  </a:lnTo>
                  <a:cubicBezTo>
                    <a:pt x="0" y="23856"/>
                    <a:pt x="3421" y="15598"/>
                    <a:pt x="9509" y="9509"/>
                  </a:cubicBezTo>
                  <a:cubicBezTo>
                    <a:pt x="15598" y="3421"/>
                    <a:pt x="23856" y="0"/>
                    <a:pt x="32466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7895670" y="5911968"/>
            <a:ext cx="332138" cy="327155"/>
          </a:xfrm>
          <a:custGeom>
            <a:avLst/>
            <a:gdLst/>
            <a:ahLst/>
            <a:cxnLst/>
            <a:rect l="l" t="t" r="r" b="b"/>
            <a:pathLst>
              <a:path w="332138" h="327155">
                <a:moveTo>
                  <a:pt x="0" y="0"/>
                </a:moveTo>
                <a:lnTo>
                  <a:pt x="332138" y="0"/>
                </a:lnTo>
                <a:lnTo>
                  <a:pt x="332138" y="327155"/>
                </a:lnTo>
                <a:lnTo>
                  <a:pt x="0" y="32715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69700" y="2235283"/>
            <a:ext cx="14348600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-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Model Architecture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65863" y="5525947"/>
            <a:ext cx="5774569" cy="138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Built a star schema data model connecting fact tables (Sales Transactions) with dimension tables (Products, Stores, Time) for optimized analytical performance.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65863" y="7638104"/>
            <a:ext cx="5774569" cy="138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Established proper table relationships, defined primary/foreign keys, and implemented calculated columns to enable seamless cross-table analysis and reporting.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42615" y="5613260"/>
            <a:ext cx="2229520" cy="9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Star Schema Design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42615" y="7725417"/>
            <a:ext cx="2229520" cy="9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Table Relationships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8265" y="687912"/>
            <a:ext cx="1949360" cy="68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75814" y="687912"/>
            <a:ext cx="1158690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00206" y="687912"/>
            <a:ext cx="1740094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677843"/>
            <a:ext cx="7820583" cy="1376204"/>
            <a:chOff x="0" y="0"/>
            <a:chExt cx="8562112" cy="1506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2111" cy="1506692"/>
            </a:xfrm>
            <a:custGeom>
              <a:avLst/>
              <a:gdLst/>
              <a:ahLst/>
              <a:cxnLst/>
              <a:rect l="l" t="t" r="r" b="b"/>
              <a:pathLst>
                <a:path w="8562111" h="1506692">
                  <a:moveTo>
                    <a:pt x="19799" y="0"/>
                  </a:moveTo>
                  <a:lnTo>
                    <a:pt x="8542313" y="0"/>
                  </a:lnTo>
                  <a:cubicBezTo>
                    <a:pt x="8547564" y="0"/>
                    <a:pt x="8552600" y="2086"/>
                    <a:pt x="8556313" y="5799"/>
                  </a:cubicBezTo>
                  <a:cubicBezTo>
                    <a:pt x="8560026" y="9512"/>
                    <a:pt x="8562111" y="14548"/>
                    <a:pt x="8562111" y="19799"/>
                  </a:cubicBezTo>
                  <a:lnTo>
                    <a:pt x="8562111" y="1486894"/>
                  </a:lnTo>
                  <a:cubicBezTo>
                    <a:pt x="8562111" y="1497828"/>
                    <a:pt x="8553247" y="1506692"/>
                    <a:pt x="8542313" y="1506692"/>
                  </a:cubicBezTo>
                  <a:lnTo>
                    <a:pt x="19799" y="1506692"/>
                  </a:lnTo>
                  <a:cubicBezTo>
                    <a:pt x="14548" y="1506692"/>
                    <a:pt x="9512" y="1504607"/>
                    <a:pt x="5799" y="1500893"/>
                  </a:cubicBezTo>
                  <a:cubicBezTo>
                    <a:pt x="2086" y="1497181"/>
                    <a:pt x="0" y="1492145"/>
                    <a:pt x="0" y="1486894"/>
                  </a:cubicBezTo>
                  <a:lnTo>
                    <a:pt x="0" y="19799"/>
                  </a:lnTo>
                  <a:cubicBezTo>
                    <a:pt x="0" y="14548"/>
                    <a:pt x="2086" y="9512"/>
                    <a:pt x="5799" y="5799"/>
                  </a:cubicBezTo>
                  <a:cubicBezTo>
                    <a:pt x="9512" y="2086"/>
                    <a:pt x="14548" y="0"/>
                    <a:pt x="19799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562112" cy="1544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973715">
            <a:off x="15612642" y="4189631"/>
            <a:ext cx="4931828" cy="4958061"/>
          </a:xfrm>
          <a:custGeom>
            <a:avLst/>
            <a:gdLst/>
            <a:ahLst/>
            <a:cxnLst/>
            <a:rect l="l" t="t" r="r" b="b"/>
            <a:pathLst>
              <a:path w="4931828" h="4958061">
                <a:moveTo>
                  <a:pt x="0" y="0"/>
                </a:moveTo>
                <a:lnTo>
                  <a:pt x="4931828" y="0"/>
                </a:lnTo>
                <a:lnTo>
                  <a:pt x="4931828" y="4958061"/>
                </a:lnTo>
                <a:lnTo>
                  <a:pt x="0" y="495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438717" y="7677843"/>
            <a:ext cx="7820583" cy="1376204"/>
            <a:chOff x="0" y="0"/>
            <a:chExt cx="8562112" cy="1506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62111" cy="1506692"/>
            </a:xfrm>
            <a:custGeom>
              <a:avLst/>
              <a:gdLst/>
              <a:ahLst/>
              <a:cxnLst/>
              <a:rect l="l" t="t" r="r" b="b"/>
              <a:pathLst>
                <a:path w="8562111" h="1506692">
                  <a:moveTo>
                    <a:pt x="19799" y="0"/>
                  </a:moveTo>
                  <a:lnTo>
                    <a:pt x="8542313" y="0"/>
                  </a:lnTo>
                  <a:cubicBezTo>
                    <a:pt x="8547564" y="0"/>
                    <a:pt x="8552600" y="2086"/>
                    <a:pt x="8556313" y="5799"/>
                  </a:cubicBezTo>
                  <a:cubicBezTo>
                    <a:pt x="8560026" y="9512"/>
                    <a:pt x="8562111" y="14548"/>
                    <a:pt x="8562111" y="19799"/>
                  </a:cubicBezTo>
                  <a:lnTo>
                    <a:pt x="8562111" y="1486894"/>
                  </a:lnTo>
                  <a:cubicBezTo>
                    <a:pt x="8562111" y="1497828"/>
                    <a:pt x="8553247" y="1506692"/>
                    <a:pt x="8542313" y="1506692"/>
                  </a:cubicBezTo>
                  <a:lnTo>
                    <a:pt x="19799" y="1506692"/>
                  </a:lnTo>
                  <a:cubicBezTo>
                    <a:pt x="14548" y="1506692"/>
                    <a:pt x="9512" y="1504607"/>
                    <a:pt x="5799" y="1500893"/>
                  </a:cubicBezTo>
                  <a:cubicBezTo>
                    <a:pt x="2086" y="1497181"/>
                    <a:pt x="0" y="1492145"/>
                    <a:pt x="0" y="1486894"/>
                  </a:cubicBezTo>
                  <a:lnTo>
                    <a:pt x="0" y="19799"/>
                  </a:lnTo>
                  <a:cubicBezTo>
                    <a:pt x="0" y="14548"/>
                    <a:pt x="2086" y="9512"/>
                    <a:pt x="5799" y="5799"/>
                  </a:cubicBezTo>
                  <a:cubicBezTo>
                    <a:pt x="9512" y="2086"/>
                    <a:pt x="14548" y="0"/>
                    <a:pt x="19799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562112" cy="1544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921870" y="2103911"/>
            <a:ext cx="4297214" cy="5080876"/>
            <a:chOff x="0" y="0"/>
            <a:chExt cx="1008127" cy="11919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8127" cy="1191974"/>
            </a:xfrm>
            <a:custGeom>
              <a:avLst/>
              <a:gdLst/>
              <a:ahLst/>
              <a:cxnLst/>
              <a:rect l="l" t="t" r="r" b="b"/>
              <a:pathLst>
                <a:path w="1008127" h="1191974">
                  <a:moveTo>
                    <a:pt x="41437" y="0"/>
                  </a:moveTo>
                  <a:lnTo>
                    <a:pt x="966690" y="0"/>
                  </a:lnTo>
                  <a:cubicBezTo>
                    <a:pt x="977680" y="0"/>
                    <a:pt x="988219" y="4366"/>
                    <a:pt x="995990" y="12137"/>
                  </a:cubicBezTo>
                  <a:cubicBezTo>
                    <a:pt x="1003761" y="19908"/>
                    <a:pt x="1008127" y="30447"/>
                    <a:pt x="1008127" y="41437"/>
                  </a:cubicBezTo>
                  <a:lnTo>
                    <a:pt x="1008127" y="1150537"/>
                  </a:lnTo>
                  <a:cubicBezTo>
                    <a:pt x="1008127" y="1173422"/>
                    <a:pt x="989575" y="1191974"/>
                    <a:pt x="966690" y="1191974"/>
                  </a:cubicBezTo>
                  <a:lnTo>
                    <a:pt x="41437" y="1191974"/>
                  </a:lnTo>
                  <a:cubicBezTo>
                    <a:pt x="18552" y="1191974"/>
                    <a:pt x="0" y="1173422"/>
                    <a:pt x="0" y="1150537"/>
                  </a:cubicBezTo>
                  <a:lnTo>
                    <a:pt x="0" y="41437"/>
                  </a:lnTo>
                  <a:cubicBezTo>
                    <a:pt x="0" y="18552"/>
                    <a:pt x="18552" y="0"/>
                    <a:pt x="41437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757039" y="2103911"/>
            <a:ext cx="4502261" cy="5080876"/>
            <a:chOff x="0" y="0"/>
            <a:chExt cx="1056231" cy="1191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6231" cy="1191974"/>
            </a:xfrm>
            <a:custGeom>
              <a:avLst/>
              <a:gdLst/>
              <a:ahLst/>
              <a:cxnLst/>
              <a:rect l="l" t="t" r="r" b="b"/>
              <a:pathLst>
                <a:path w="1056231" h="1191974">
                  <a:moveTo>
                    <a:pt x="39550" y="0"/>
                  </a:moveTo>
                  <a:lnTo>
                    <a:pt x="1016681" y="0"/>
                  </a:lnTo>
                  <a:cubicBezTo>
                    <a:pt x="1038524" y="0"/>
                    <a:pt x="1056231" y="17707"/>
                    <a:pt x="1056231" y="39550"/>
                  </a:cubicBezTo>
                  <a:lnTo>
                    <a:pt x="1056231" y="1152424"/>
                  </a:lnTo>
                  <a:cubicBezTo>
                    <a:pt x="1056231" y="1174267"/>
                    <a:pt x="1038524" y="1191974"/>
                    <a:pt x="1016681" y="1191974"/>
                  </a:cubicBezTo>
                  <a:lnTo>
                    <a:pt x="39550" y="1191974"/>
                  </a:lnTo>
                  <a:cubicBezTo>
                    <a:pt x="17707" y="1191974"/>
                    <a:pt x="0" y="1174267"/>
                    <a:pt x="0" y="1152424"/>
                  </a:cubicBezTo>
                  <a:lnTo>
                    <a:pt x="0" y="39550"/>
                  </a:lnTo>
                  <a:cubicBezTo>
                    <a:pt x="0" y="17707"/>
                    <a:pt x="17707" y="0"/>
                    <a:pt x="39550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136462" y="1924269"/>
            <a:ext cx="5985756" cy="1691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8"/>
              </a:lnSpc>
            </a:pPr>
            <a:r>
              <a:rPr lang="en-US" sz="5858" b="1" spc="-29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Revenue Analytics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6462" y="6140212"/>
            <a:ext cx="5671252" cy="85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McDonald's revenue analytics reveals strong performance patterns across product categories, time periods, and regional segments.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8265" y="8023190"/>
            <a:ext cx="7126412" cy="56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Total revenue exceeded targets with consistent month-over-month growth, driven by strategic menu optimization and peak hour maximization.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24524" y="8023190"/>
            <a:ext cx="6745729" cy="56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DAX measures enabled real-time tracking of YoY growth rates, average transaction values, and revenue per customer metrics.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823045"/>
            <a:ext cx="3759017" cy="86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8"/>
              </a:lnSpc>
            </a:pPr>
            <a:r>
              <a:rPr lang="en-US" sz="5858" b="1" spc="-29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$2.8M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12084" y="4870670"/>
            <a:ext cx="2043294" cy="87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0"/>
              </a:lnSpc>
            </a:pPr>
            <a:r>
              <a:rPr lang="en-US" sz="2393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Total Revenue Analyzed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8265" y="687912"/>
            <a:ext cx="1949360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75814" y="687912"/>
            <a:ext cx="1158690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Revenue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00206" y="687912"/>
            <a:ext cx="1740094" cy="2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5"/>
              </a:lnSpc>
            </a:pPr>
            <a:r>
              <a:rPr lang="en-US" sz="161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419591" y="6074482"/>
            <a:ext cx="742407" cy="7424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9973715">
            <a:off x="5976683" y="860275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769461" y="4730902"/>
            <a:ext cx="4047051" cy="4114823"/>
            <a:chOff x="0" y="0"/>
            <a:chExt cx="949439" cy="9653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439" cy="965338"/>
            </a:xfrm>
            <a:custGeom>
              <a:avLst/>
              <a:gdLst/>
              <a:ahLst/>
              <a:cxnLst/>
              <a:rect l="l" t="t" r="r" b="b"/>
              <a:pathLst>
                <a:path w="949439" h="965338">
                  <a:moveTo>
                    <a:pt x="43998" y="0"/>
                  </a:moveTo>
                  <a:lnTo>
                    <a:pt x="905440" y="0"/>
                  </a:lnTo>
                  <a:cubicBezTo>
                    <a:pt x="917109" y="0"/>
                    <a:pt x="928300" y="4636"/>
                    <a:pt x="936552" y="12887"/>
                  </a:cubicBezTo>
                  <a:cubicBezTo>
                    <a:pt x="944803" y="21138"/>
                    <a:pt x="949439" y="32329"/>
                    <a:pt x="949439" y="43998"/>
                  </a:cubicBezTo>
                  <a:lnTo>
                    <a:pt x="949439" y="921339"/>
                  </a:lnTo>
                  <a:cubicBezTo>
                    <a:pt x="949439" y="933009"/>
                    <a:pt x="944803" y="944200"/>
                    <a:pt x="936552" y="952451"/>
                  </a:cubicBezTo>
                  <a:cubicBezTo>
                    <a:pt x="928300" y="960702"/>
                    <a:pt x="917109" y="965338"/>
                    <a:pt x="905440" y="965338"/>
                  </a:cubicBezTo>
                  <a:lnTo>
                    <a:pt x="43998" y="965338"/>
                  </a:lnTo>
                  <a:cubicBezTo>
                    <a:pt x="19699" y="965338"/>
                    <a:pt x="0" y="945639"/>
                    <a:pt x="0" y="921339"/>
                  </a:cubicBezTo>
                  <a:lnTo>
                    <a:pt x="0" y="43998"/>
                  </a:lnTo>
                  <a:cubicBezTo>
                    <a:pt x="0" y="32329"/>
                    <a:pt x="4636" y="21138"/>
                    <a:pt x="12887" y="12887"/>
                  </a:cubicBezTo>
                  <a:cubicBezTo>
                    <a:pt x="21138" y="4636"/>
                    <a:pt x="32329" y="0"/>
                    <a:pt x="43998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769461" y="2123034"/>
            <a:ext cx="4047051" cy="2175087"/>
            <a:chOff x="0" y="0"/>
            <a:chExt cx="949439" cy="5102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9439" cy="510276"/>
            </a:xfrm>
            <a:custGeom>
              <a:avLst/>
              <a:gdLst/>
              <a:ahLst/>
              <a:cxnLst/>
              <a:rect l="l" t="t" r="r" b="b"/>
              <a:pathLst>
                <a:path w="949439" h="510276">
                  <a:moveTo>
                    <a:pt x="43998" y="0"/>
                  </a:moveTo>
                  <a:lnTo>
                    <a:pt x="905440" y="0"/>
                  </a:lnTo>
                  <a:cubicBezTo>
                    <a:pt x="917109" y="0"/>
                    <a:pt x="928300" y="4636"/>
                    <a:pt x="936552" y="12887"/>
                  </a:cubicBezTo>
                  <a:cubicBezTo>
                    <a:pt x="944803" y="21138"/>
                    <a:pt x="949439" y="32329"/>
                    <a:pt x="949439" y="43998"/>
                  </a:cubicBezTo>
                  <a:lnTo>
                    <a:pt x="949439" y="466277"/>
                  </a:lnTo>
                  <a:cubicBezTo>
                    <a:pt x="949439" y="477946"/>
                    <a:pt x="944803" y="489137"/>
                    <a:pt x="936552" y="497389"/>
                  </a:cubicBezTo>
                  <a:cubicBezTo>
                    <a:pt x="928300" y="505640"/>
                    <a:pt x="917109" y="510276"/>
                    <a:pt x="905440" y="510276"/>
                  </a:cubicBezTo>
                  <a:lnTo>
                    <a:pt x="43998" y="510276"/>
                  </a:lnTo>
                  <a:cubicBezTo>
                    <a:pt x="32329" y="510276"/>
                    <a:pt x="21138" y="505640"/>
                    <a:pt x="12887" y="497389"/>
                  </a:cubicBezTo>
                  <a:cubicBezTo>
                    <a:pt x="4636" y="489137"/>
                    <a:pt x="0" y="477946"/>
                    <a:pt x="0" y="466277"/>
                  </a:cubicBezTo>
                  <a:lnTo>
                    <a:pt x="0" y="43998"/>
                  </a:lnTo>
                  <a:cubicBezTo>
                    <a:pt x="0" y="32329"/>
                    <a:pt x="4636" y="21138"/>
                    <a:pt x="12887" y="12887"/>
                  </a:cubicBezTo>
                  <a:cubicBezTo>
                    <a:pt x="21138" y="4636"/>
                    <a:pt x="32329" y="0"/>
                    <a:pt x="43998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83069" y="2123034"/>
            <a:ext cx="4047051" cy="2175087"/>
            <a:chOff x="0" y="0"/>
            <a:chExt cx="949439" cy="5102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49439" cy="510276"/>
            </a:xfrm>
            <a:custGeom>
              <a:avLst/>
              <a:gdLst/>
              <a:ahLst/>
              <a:cxnLst/>
              <a:rect l="l" t="t" r="r" b="b"/>
              <a:pathLst>
                <a:path w="949439" h="510276">
                  <a:moveTo>
                    <a:pt x="43998" y="0"/>
                  </a:moveTo>
                  <a:lnTo>
                    <a:pt x="905440" y="0"/>
                  </a:lnTo>
                  <a:cubicBezTo>
                    <a:pt x="917109" y="0"/>
                    <a:pt x="928300" y="4636"/>
                    <a:pt x="936552" y="12887"/>
                  </a:cubicBezTo>
                  <a:cubicBezTo>
                    <a:pt x="944803" y="21138"/>
                    <a:pt x="949439" y="32329"/>
                    <a:pt x="949439" y="43998"/>
                  </a:cubicBezTo>
                  <a:lnTo>
                    <a:pt x="949439" y="466277"/>
                  </a:lnTo>
                  <a:cubicBezTo>
                    <a:pt x="949439" y="477946"/>
                    <a:pt x="944803" y="489137"/>
                    <a:pt x="936552" y="497389"/>
                  </a:cubicBezTo>
                  <a:cubicBezTo>
                    <a:pt x="928300" y="505640"/>
                    <a:pt x="917109" y="510276"/>
                    <a:pt x="905440" y="510276"/>
                  </a:cubicBezTo>
                  <a:lnTo>
                    <a:pt x="43998" y="510276"/>
                  </a:lnTo>
                  <a:cubicBezTo>
                    <a:pt x="32329" y="510276"/>
                    <a:pt x="21138" y="505640"/>
                    <a:pt x="12887" y="497389"/>
                  </a:cubicBezTo>
                  <a:cubicBezTo>
                    <a:pt x="4636" y="489137"/>
                    <a:pt x="0" y="477946"/>
                    <a:pt x="0" y="466277"/>
                  </a:cubicBezTo>
                  <a:lnTo>
                    <a:pt x="0" y="43998"/>
                  </a:lnTo>
                  <a:cubicBezTo>
                    <a:pt x="0" y="32329"/>
                    <a:pt x="4636" y="21138"/>
                    <a:pt x="12887" y="12887"/>
                  </a:cubicBezTo>
                  <a:cubicBezTo>
                    <a:pt x="21138" y="4636"/>
                    <a:pt x="32329" y="0"/>
                    <a:pt x="43998" y="0"/>
                  </a:cubicBezTo>
                  <a:close/>
                </a:path>
              </a:pathLst>
            </a:custGeom>
            <a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1607366" y="6292587"/>
            <a:ext cx="366756" cy="366756"/>
          </a:xfrm>
          <a:custGeom>
            <a:avLst/>
            <a:gdLst/>
            <a:ahLst/>
            <a:cxnLst/>
            <a:rect l="l" t="t" r="r" b="b"/>
            <a:pathLst>
              <a:path w="366756" h="366756">
                <a:moveTo>
                  <a:pt x="0" y="0"/>
                </a:moveTo>
                <a:lnTo>
                  <a:pt x="366756" y="0"/>
                </a:lnTo>
                <a:lnTo>
                  <a:pt x="366756" y="366757"/>
                </a:lnTo>
                <a:lnTo>
                  <a:pt x="0" y="366757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419591" y="2039253"/>
            <a:ext cx="6486701" cy="282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4"/>
              </a:lnSpc>
            </a:pPr>
            <a:r>
              <a:rPr lang="en-US" sz="7324" b="1" spc="-36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Performance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19591" y="7568571"/>
            <a:ext cx="583970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Deep dive into menu item profitability and category performance metrics. Interactive dashboards reveal top-selling products and revenue drivers.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19591" y="6955022"/>
            <a:ext cx="3861451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Menu Item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845" y="6901658"/>
            <a:ext cx="3092524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Top Categories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7845" y="4734197"/>
            <a:ext cx="3092524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Products Analyzed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7845" y="7533646"/>
            <a:ext cx="3913511" cy="108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4"/>
              </a:lnSpc>
            </a:pPr>
            <a:r>
              <a:rPr lang="en-US" sz="7324" b="1" spc="-36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7845" y="5366184"/>
            <a:ext cx="3913511" cy="108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4"/>
              </a:lnSpc>
            </a:pPr>
            <a:r>
              <a:rPr lang="en-US" sz="7324" b="1" spc="-36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45+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8265" y="678387"/>
            <a:ext cx="194936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75814" y="678387"/>
            <a:ext cx="115869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Dashboard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00206" y="678387"/>
            <a:ext cx="17400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9360" y="736732"/>
            <a:ext cx="408517" cy="302009"/>
          </a:xfrm>
          <a:custGeom>
            <a:avLst/>
            <a:gdLst/>
            <a:ahLst/>
            <a:cxnLst/>
            <a:rect l="l" t="t" r="r" b="b"/>
            <a:pathLst>
              <a:path w="408517" h="302009">
                <a:moveTo>
                  <a:pt x="0" y="0"/>
                </a:moveTo>
                <a:lnTo>
                  <a:pt x="408517" y="0"/>
                </a:lnTo>
                <a:lnTo>
                  <a:pt x="408517" y="302009"/>
                </a:lnTo>
                <a:lnTo>
                  <a:pt x="0" y="30200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973715">
            <a:off x="15445024" y="5933637"/>
            <a:ext cx="5124910" cy="7243688"/>
          </a:xfrm>
          <a:custGeom>
            <a:avLst/>
            <a:gdLst/>
            <a:ahLst/>
            <a:cxnLst/>
            <a:rect l="l" t="t" r="r" b="b"/>
            <a:pathLst>
              <a:path w="5124910" h="7243688">
                <a:moveTo>
                  <a:pt x="0" y="0"/>
                </a:moveTo>
                <a:lnTo>
                  <a:pt x="5124909" y="0"/>
                </a:lnTo>
                <a:lnTo>
                  <a:pt x="5124909" y="7243689"/>
                </a:lnTo>
                <a:lnTo>
                  <a:pt x="0" y="7243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92930" y="6305550"/>
            <a:ext cx="10666370" cy="2952750"/>
            <a:chOff x="0" y="0"/>
            <a:chExt cx="2502332" cy="692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02332" cy="692715"/>
            </a:xfrm>
            <a:custGeom>
              <a:avLst/>
              <a:gdLst/>
              <a:ahLst/>
              <a:cxnLst/>
              <a:rect l="l" t="t" r="r" b="b"/>
              <a:pathLst>
                <a:path w="2502332" h="692715">
                  <a:moveTo>
                    <a:pt x="16694" y="0"/>
                  </a:moveTo>
                  <a:lnTo>
                    <a:pt x="2485638" y="0"/>
                  </a:lnTo>
                  <a:cubicBezTo>
                    <a:pt x="2494857" y="0"/>
                    <a:pt x="2502332" y="7474"/>
                    <a:pt x="2502332" y="16694"/>
                  </a:cubicBezTo>
                  <a:lnTo>
                    <a:pt x="2502332" y="676021"/>
                  </a:lnTo>
                  <a:cubicBezTo>
                    <a:pt x="2502332" y="685241"/>
                    <a:pt x="2494857" y="692715"/>
                    <a:pt x="2485638" y="692715"/>
                  </a:cubicBezTo>
                  <a:lnTo>
                    <a:pt x="16694" y="692715"/>
                  </a:lnTo>
                  <a:cubicBezTo>
                    <a:pt x="7474" y="692715"/>
                    <a:pt x="0" y="685241"/>
                    <a:pt x="0" y="676021"/>
                  </a:cubicBezTo>
                  <a:lnTo>
                    <a:pt x="0" y="16694"/>
                  </a:lnTo>
                  <a:cubicBezTo>
                    <a:pt x="0" y="7474"/>
                    <a:pt x="7474" y="0"/>
                    <a:pt x="16694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04183" y="6305550"/>
            <a:ext cx="5062688" cy="2952750"/>
            <a:chOff x="0" y="0"/>
            <a:chExt cx="1187707" cy="692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7707" cy="692715"/>
            </a:xfrm>
            <a:custGeom>
              <a:avLst/>
              <a:gdLst/>
              <a:ahLst/>
              <a:cxnLst/>
              <a:rect l="l" t="t" r="r" b="b"/>
              <a:pathLst>
                <a:path w="1187707" h="692715">
                  <a:moveTo>
                    <a:pt x="35172" y="0"/>
                  </a:moveTo>
                  <a:lnTo>
                    <a:pt x="1152535" y="0"/>
                  </a:lnTo>
                  <a:cubicBezTo>
                    <a:pt x="1171960" y="0"/>
                    <a:pt x="1187707" y="15747"/>
                    <a:pt x="1187707" y="35172"/>
                  </a:cubicBezTo>
                  <a:lnTo>
                    <a:pt x="1187707" y="657544"/>
                  </a:lnTo>
                  <a:cubicBezTo>
                    <a:pt x="1187707" y="666872"/>
                    <a:pt x="1184001" y="675818"/>
                    <a:pt x="1177405" y="682414"/>
                  </a:cubicBezTo>
                  <a:cubicBezTo>
                    <a:pt x="1170809" y="689010"/>
                    <a:pt x="1161863" y="692715"/>
                    <a:pt x="1152535" y="692715"/>
                  </a:cubicBezTo>
                  <a:lnTo>
                    <a:pt x="35172" y="692715"/>
                  </a:lnTo>
                  <a:cubicBezTo>
                    <a:pt x="25844" y="692715"/>
                    <a:pt x="16898" y="689010"/>
                    <a:pt x="10302" y="682414"/>
                  </a:cubicBezTo>
                  <a:cubicBezTo>
                    <a:pt x="3706" y="675818"/>
                    <a:pt x="0" y="666872"/>
                    <a:pt x="0" y="657544"/>
                  </a:cubicBezTo>
                  <a:lnTo>
                    <a:pt x="0" y="35172"/>
                  </a:lnTo>
                  <a:cubicBezTo>
                    <a:pt x="0" y="25844"/>
                    <a:pt x="3706" y="16898"/>
                    <a:pt x="10302" y="10302"/>
                  </a:cubicBezTo>
                  <a:cubicBezTo>
                    <a:pt x="16898" y="3706"/>
                    <a:pt x="25844" y="0"/>
                    <a:pt x="35172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04183" y="2063749"/>
            <a:ext cx="5378919" cy="342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Interactive Dashboard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43797" y="4451350"/>
            <a:ext cx="9615503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hierarchical drill-down capabilities from regional to store-level analysis, with dynamic filtering that updates KPIs, charts, and tables in real-time.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3797" y="2619377"/>
            <a:ext cx="9615503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multi-select slicers for time periods, product categories, and store locations enabling instant data filtering across all dashboard visuals.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3797" y="3972339"/>
            <a:ext cx="3776704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Drill-Down Analytics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43797" y="2140366"/>
            <a:ext cx="3776704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Dynamic Slicers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8265" y="678387"/>
            <a:ext cx="194936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75814" y="678387"/>
            <a:ext cx="115869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Dashboard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00206" y="678387"/>
            <a:ext cx="17400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7041216"/>
            <a:ext cx="8115300" cy="1765146"/>
            <a:chOff x="0" y="0"/>
            <a:chExt cx="2137363" cy="4648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464894"/>
            </a:xfrm>
            <a:custGeom>
              <a:avLst/>
              <a:gdLst/>
              <a:ahLst/>
              <a:cxnLst/>
              <a:rect l="l" t="t" r="r" b="b"/>
              <a:pathLst>
                <a:path w="2137363" h="464894">
                  <a:moveTo>
                    <a:pt x="31482" y="0"/>
                  </a:moveTo>
                  <a:lnTo>
                    <a:pt x="2105881" y="0"/>
                  </a:lnTo>
                  <a:cubicBezTo>
                    <a:pt x="2114231" y="0"/>
                    <a:pt x="2122238" y="3317"/>
                    <a:pt x="2128142" y="9221"/>
                  </a:cubicBezTo>
                  <a:cubicBezTo>
                    <a:pt x="2134046" y="15125"/>
                    <a:pt x="2137363" y="23132"/>
                    <a:pt x="2137363" y="31482"/>
                  </a:cubicBezTo>
                  <a:lnTo>
                    <a:pt x="2137363" y="433413"/>
                  </a:lnTo>
                  <a:cubicBezTo>
                    <a:pt x="2137363" y="450800"/>
                    <a:pt x="2123268" y="464894"/>
                    <a:pt x="2105881" y="464894"/>
                  </a:cubicBezTo>
                  <a:lnTo>
                    <a:pt x="31482" y="464894"/>
                  </a:lnTo>
                  <a:cubicBezTo>
                    <a:pt x="23132" y="464894"/>
                    <a:pt x="15125" y="461578"/>
                    <a:pt x="9221" y="455674"/>
                  </a:cubicBezTo>
                  <a:cubicBezTo>
                    <a:pt x="3317" y="449770"/>
                    <a:pt x="0" y="441762"/>
                    <a:pt x="0" y="433413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37363" cy="502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317864" y="4188527"/>
            <a:ext cx="6301749" cy="2507031"/>
            <a:chOff x="0" y="0"/>
            <a:chExt cx="1578845" cy="6281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8845" cy="628113"/>
            </a:xfrm>
            <a:custGeom>
              <a:avLst/>
              <a:gdLst/>
              <a:ahLst/>
              <a:cxnLst/>
              <a:rect l="l" t="t" r="r" b="b"/>
              <a:pathLst>
                <a:path w="1578845" h="628113">
                  <a:moveTo>
                    <a:pt x="28256" y="0"/>
                  </a:moveTo>
                  <a:lnTo>
                    <a:pt x="1550588" y="0"/>
                  </a:lnTo>
                  <a:cubicBezTo>
                    <a:pt x="1558082" y="0"/>
                    <a:pt x="1565270" y="2977"/>
                    <a:pt x="1570569" y="8276"/>
                  </a:cubicBezTo>
                  <a:cubicBezTo>
                    <a:pt x="1575868" y="13575"/>
                    <a:pt x="1578845" y="20762"/>
                    <a:pt x="1578845" y="28256"/>
                  </a:cubicBezTo>
                  <a:lnTo>
                    <a:pt x="1578845" y="599857"/>
                  </a:lnTo>
                  <a:cubicBezTo>
                    <a:pt x="1578845" y="607351"/>
                    <a:pt x="1575868" y="614538"/>
                    <a:pt x="1570569" y="619837"/>
                  </a:cubicBezTo>
                  <a:cubicBezTo>
                    <a:pt x="1565270" y="625136"/>
                    <a:pt x="1558082" y="628113"/>
                    <a:pt x="1550588" y="628113"/>
                  </a:cubicBezTo>
                  <a:lnTo>
                    <a:pt x="28256" y="628113"/>
                  </a:lnTo>
                  <a:cubicBezTo>
                    <a:pt x="20762" y="628113"/>
                    <a:pt x="13575" y="625136"/>
                    <a:pt x="8276" y="619837"/>
                  </a:cubicBezTo>
                  <a:cubicBezTo>
                    <a:pt x="2977" y="614538"/>
                    <a:pt x="0" y="607351"/>
                    <a:pt x="0" y="599857"/>
                  </a:cubicBezTo>
                  <a:lnTo>
                    <a:pt x="0" y="28256"/>
                  </a:lnTo>
                  <a:cubicBezTo>
                    <a:pt x="0" y="20762"/>
                    <a:pt x="2977" y="13575"/>
                    <a:pt x="8276" y="8276"/>
                  </a:cubicBezTo>
                  <a:cubicBezTo>
                    <a:pt x="13575" y="2977"/>
                    <a:pt x="20762" y="0"/>
                    <a:pt x="28256" y="0"/>
                  </a:cubicBez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4559469"/>
            <a:ext cx="4465803" cy="1765146"/>
            <a:chOff x="0" y="0"/>
            <a:chExt cx="1176179" cy="4648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6179" cy="464894"/>
            </a:xfrm>
            <a:custGeom>
              <a:avLst/>
              <a:gdLst/>
              <a:ahLst/>
              <a:cxnLst/>
              <a:rect l="l" t="t" r="r" b="b"/>
              <a:pathLst>
                <a:path w="1176179" h="464894">
                  <a:moveTo>
                    <a:pt x="57209" y="0"/>
                  </a:moveTo>
                  <a:lnTo>
                    <a:pt x="1118970" y="0"/>
                  </a:lnTo>
                  <a:cubicBezTo>
                    <a:pt x="1150565" y="0"/>
                    <a:pt x="1176179" y="25613"/>
                    <a:pt x="1176179" y="57209"/>
                  </a:cubicBezTo>
                  <a:lnTo>
                    <a:pt x="1176179" y="407686"/>
                  </a:lnTo>
                  <a:cubicBezTo>
                    <a:pt x="1176179" y="439281"/>
                    <a:pt x="1150565" y="464894"/>
                    <a:pt x="1118970" y="464894"/>
                  </a:cubicBezTo>
                  <a:lnTo>
                    <a:pt x="57209" y="464894"/>
                  </a:lnTo>
                  <a:cubicBezTo>
                    <a:pt x="25613" y="464894"/>
                    <a:pt x="0" y="439281"/>
                    <a:pt x="0" y="407686"/>
                  </a:cubicBezTo>
                  <a:lnTo>
                    <a:pt x="0" y="57209"/>
                  </a:lnTo>
                  <a:cubicBezTo>
                    <a:pt x="0" y="25613"/>
                    <a:pt x="25613" y="0"/>
                    <a:pt x="57209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6179" cy="502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9973715">
            <a:off x="16192792" y="152154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957551" y="4188527"/>
            <a:ext cx="6301749" cy="2507031"/>
            <a:chOff x="0" y="0"/>
            <a:chExt cx="1578845" cy="6281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78845" cy="628113"/>
            </a:xfrm>
            <a:custGeom>
              <a:avLst/>
              <a:gdLst/>
              <a:ahLst/>
              <a:cxnLst/>
              <a:rect l="l" t="t" r="r" b="b"/>
              <a:pathLst>
                <a:path w="1578845" h="628113">
                  <a:moveTo>
                    <a:pt x="28256" y="0"/>
                  </a:moveTo>
                  <a:lnTo>
                    <a:pt x="1550588" y="0"/>
                  </a:lnTo>
                  <a:cubicBezTo>
                    <a:pt x="1558082" y="0"/>
                    <a:pt x="1565270" y="2977"/>
                    <a:pt x="1570569" y="8276"/>
                  </a:cubicBezTo>
                  <a:cubicBezTo>
                    <a:pt x="1575868" y="13575"/>
                    <a:pt x="1578845" y="20762"/>
                    <a:pt x="1578845" y="28256"/>
                  </a:cubicBezTo>
                  <a:lnTo>
                    <a:pt x="1578845" y="599857"/>
                  </a:lnTo>
                  <a:cubicBezTo>
                    <a:pt x="1578845" y="607351"/>
                    <a:pt x="1575868" y="614538"/>
                    <a:pt x="1570569" y="619837"/>
                  </a:cubicBezTo>
                  <a:cubicBezTo>
                    <a:pt x="1565270" y="625136"/>
                    <a:pt x="1558082" y="628113"/>
                    <a:pt x="1550588" y="628113"/>
                  </a:cubicBezTo>
                  <a:lnTo>
                    <a:pt x="28256" y="628113"/>
                  </a:lnTo>
                  <a:cubicBezTo>
                    <a:pt x="20762" y="628113"/>
                    <a:pt x="13575" y="625136"/>
                    <a:pt x="8276" y="619837"/>
                  </a:cubicBezTo>
                  <a:cubicBezTo>
                    <a:pt x="2977" y="614538"/>
                    <a:pt x="0" y="607351"/>
                    <a:pt x="0" y="599857"/>
                  </a:cubicBezTo>
                  <a:lnTo>
                    <a:pt x="0" y="28256"/>
                  </a:lnTo>
                  <a:cubicBezTo>
                    <a:pt x="0" y="20762"/>
                    <a:pt x="2977" y="13575"/>
                    <a:pt x="8276" y="8276"/>
                  </a:cubicBezTo>
                  <a:cubicBezTo>
                    <a:pt x="13575" y="2977"/>
                    <a:pt x="20762" y="0"/>
                    <a:pt x="28256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407790" y="5106865"/>
            <a:ext cx="742407" cy="7424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613831" y="5237287"/>
            <a:ext cx="302057" cy="539146"/>
          </a:xfrm>
          <a:custGeom>
            <a:avLst/>
            <a:gdLst/>
            <a:ahLst/>
            <a:cxnLst/>
            <a:rect l="l" t="t" r="r" b="b"/>
            <a:pathLst>
              <a:path w="302057" h="539146">
                <a:moveTo>
                  <a:pt x="0" y="0"/>
                </a:moveTo>
                <a:lnTo>
                  <a:pt x="302056" y="0"/>
                </a:lnTo>
                <a:lnTo>
                  <a:pt x="302056" y="539146"/>
                </a:lnTo>
                <a:lnTo>
                  <a:pt x="0" y="539146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739385" y="2329813"/>
            <a:ext cx="14809229" cy="116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52"/>
              </a:lnSpc>
            </a:pPr>
            <a:r>
              <a:rPr lang="en-US" sz="7952" b="1" spc="-39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Insights &amp; Recommendations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391976"/>
            <a:ext cx="7326570" cy="762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Analysis reveals peak sales occur during lunch (11AM-2PM) and dinner (5PM-8PM) windows. Recommend optimizing staff scheduling and inventory during these periods to maximize throughput and minimize wait times.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19030" y="7391976"/>
            <a:ext cx="5221403" cy="102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Combo meals drive 65% of revenue. Focus promotional efforts on high-margin combos and implement dynamic pricing strategies during off-peak hours to boost sales volume.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47058" y="7457558"/>
            <a:ext cx="1633782" cy="78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</a:pPr>
            <a:r>
              <a:rPr lang="en-US" sz="2092" b="1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Sales Optimization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8265" y="687912"/>
            <a:ext cx="194936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75814" y="687912"/>
            <a:ext cx="115869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Insights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00206" y="687912"/>
            <a:ext cx="1740094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15169" y="4951382"/>
            <a:ext cx="2816674" cy="116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52"/>
              </a:lnSpc>
            </a:pPr>
            <a:r>
              <a:rPr lang="en-US" sz="7952" b="1" spc="-397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71383" y="6445084"/>
            <a:ext cx="4133377" cy="2417596"/>
            <a:chOff x="0" y="0"/>
            <a:chExt cx="1088626" cy="636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8626" cy="636733"/>
            </a:xfrm>
            <a:custGeom>
              <a:avLst/>
              <a:gdLst/>
              <a:ahLst/>
              <a:cxnLst/>
              <a:rect l="l" t="t" r="r" b="b"/>
              <a:pathLst>
                <a:path w="1088626" h="636733">
                  <a:moveTo>
                    <a:pt x="61810" y="0"/>
                  </a:moveTo>
                  <a:lnTo>
                    <a:pt x="1026816" y="0"/>
                  </a:lnTo>
                  <a:cubicBezTo>
                    <a:pt x="1043209" y="0"/>
                    <a:pt x="1058931" y="6512"/>
                    <a:pt x="1070522" y="18104"/>
                  </a:cubicBezTo>
                  <a:cubicBezTo>
                    <a:pt x="1082114" y="29695"/>
                    <a:pt x="1088626" y="45417"/>
                    <a:pt x="1088626" y="61810"/>
                  </a:cubicBezTo>
                  <a:lnTo>
                    <a:pt x="1088626" y="574923"/>
                  </a:lnTo>
                  <a:cubicBezTo>
                    <a:pt x="1088626" y="591316"/>
                    <a:pt x="1082114" y="607038"/>
                    <a:pt x="1070522" y="618630"/>
                  </a:cubicBezTo>
                  <a:cubicBezTo>
                    <a:pt x="1058931" y="630221"/>
                    <a:pt x="1043209" y="636733"/>
                    <a:pt x="1026816" y="636733"/>
                  </a:cubicBezTo>
                  <a:lnTo>
                    <a:pt x="61810" y="636733"/>
                  </a:lnTo>
                  <a:cubicBezTo>
                    <a:pt x="45417" y="636733"/>
                    <a:pt x="29695" y="630221"/>
                    <a:pt x="18104" y="618630"/>
                  </a:cubicBezTo>
                  <a:cubicBezTo>
                    <a:pt x="6512" y="607038"/>
                    <a:pt x="0" y="591316"/>
                    <a:pt x="0" y="574923"/>
                  </a:cubicBezTo>
                  <a:lnTo>
                    <a:pt x="0" y="61810"/>
                  </a:lnTo>
                  <a:cubicBezTo>
                    <a:pt x="0" y="45417"/>
                    <a:pt x="6512" y="29695"/>
                    <a:pt x="18104" y="18104"/>
                  </a:cubicBezTo>
                  <a:cubicBezTo>
                    <a:pt x="29695" y="6512"/>
                    <a:pt x="45417" y="0"/>
                    <a:pt x="61810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88626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973715">
            <a:off x="15675529" y="259715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481483" y="2104310"/>
            <a:ext cx="9751739" cy="3862917"/>
            <a:chOff x="0" y="0"/>
            <a:chExt cx="1663696" cy="6590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63696" cy="659033"/>
            </a:xfrm>
            <a:custGeom>
              <a:avLst/>
              <a:gdLst/>
              <a:ahLst/>
              <a:cxnLst/>
              <a:rect l="l" t="t" r="r" b="b"/>
              <a:pathLst>
                <a:path w="1663696" h="659033">
                  <a:moveTo>
                    <a:pt x="18260" y="0"/>
                  </a:moveTo>
                  <a:lnTo>
                    <a:pt x="1645436" y="0"/>
                  </a:lnTo>
                  <a:cubicBezTo>
                    <a:pt x="1650279" y="0"/>
                    <a:pt x="1654923" y="1924"/>
                    <a:pt x="1658348" y="5348"/>
                  </a:cubicBezTo>
                  <a:cubicBezTo>
                    <a:pt x="1661772" y="8773"/>
                    <a:pt x="1663696" y="13417"/>
                    <a:pt x="1663696" y="18260"/>
                  </a:cubicBezTo>
                  <a:lnTo>
                    <a:pt x="1663696" y="640773"/>
                  </a:lnTo>
                  <a:cubicBezTo>
                    <a:pt x="1663696" y="650858"/>
                    <a:pt x="1655521" y="659033"/>
                    <a:pt x="1645436" y="659033"/>
                  </a:cubicBezTo>
                  <a:lnTo>
                    <a:pt x="18260" y="659033"/>
                  </a:lnTo>
                  <a:cubicBezTo>
                    <a:pt x="8175" y="659033"/>
                    <a:pt x="0" y="650858"/>
                    <a:pt x="0" y="640773"/>
                  </a:cubicBezTo>
                  <a:lnTo>
                    <a:pt x="0" y="18260"/>
                  </a:lnTo>
                  <a:cubicBezTo>
                    <a:pt x="0" y="8175"/>
                    <a:pt x="8175" y="0"/>
                    <a:pt x="18260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364854" y="6445084"/>
            <a:ext cx="9254385" cy="4189143"/>
            <a:chOff x="0" y="0"/>
            <a:chExt cx="1578845" cy="7146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845" cy="714689"/>
            </a:xfrm>
            <a:custGeom>
              <a:avLst/>
              <a:gdLst/>
              <a:ahLst/>
              <a:cxnLst/>
              <a:rect l="l" t="t" r="r" b="b"/>
              <a:pathLst>
                <a:path w="1578845" h="714689">
                  <a:moveTo>
                    <a:pt x="19241" y="0"/>
                  </a:moveTo>
                  <a:lnTo>
                    <a:pt x="1559604" y="0"/>
                  </a:lnTo>
                  <a:cubicBezTo>
                    <a:pt x="1564707" y="0"/>
                    <a:pt x="1569601" y="2027"/>
                    <a:pt x="1573209" y="5636"/>
                  </a:cubicBezTo>
                  <a:cubicBezTo>
                    <a:pt x="1576818" y="9244"/>
                    <a:pt x="1578845" y="14138"/>
                    <a:pt x="1578845" y="19241"/>
                  </a:cubicBezTo>
                  <a:lnTo>
                    <a:pt x="1578845" y="695448"/>
                  </a:lnTo>
                  <a:cubicBezTo>
                    <a:pt x="1578845" y="706074"/>
                    <a:pt x="1570230" y="714689"/>
                    <a:pt x="1559604" y="714689"/>
                  </a:cubicBezTo>
                  <a:lnTo>
                    <a:pt x="19241" y="714689"/>
                  </a:lnTo>
                  <a:cubicBezTo>
                    <a:pt x="8615" y="714689"/>
                    <a:pt x="0" y="706074"/>
                    <a:pt x="0" y="695448"/>
                  </a:cubicBezTo>
                  <a:lnTo>
                    <a:pt x="0" y="19241"/>
                  </a:lnTo>
                  <a:cubicBezTo>
                    <a:pt x="0" y="8615"/>
                    <a:pt x="8615" y="0"/>
                    <a:pt x="19241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28700" y="7407824"/>
            <a:ext cx="3235641" cy="102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dashboards reduced reporting time by 75%, enabling instant access to critical sales metrics.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1648" y="7407824"/>
            <a:ext cx="3052951" cy="102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Automated data modeling eliminated manual errors and improved forecast reliability by 40%.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200" y="2057531"/>
            <a:ext cx="6434283" cy="225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68"/>
              </a:lnSpc>
            </a:pPr>
            <a:r>
              <a:rPr lang="en-US" sz="7868" b="1" spc="-39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Business Impact &amp; Value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8265" y="687912"/>
            <a:ext cx="194936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75814" y="687912"/>
            <a:ext cx="1158690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00206" y="687912"/>
            <a:ext cx="1740094" cy="24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Results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873932"/>
            <a:ext cx="2930436" cy="42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7"/>
              </a:lnSpc>
            </a:pPr>
            <a:r>
              <a:rPr lang="en-US" sz="2341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Faster Decisions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01648" y="6873932"/>
            <a:ext cx="2854236" cy="42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7"/>
              </a:lnSpc>
            </a:pPr>
            <a:r>
              <a:rPr lang="en-US" sz="2341" b="1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Enhanced Accuracy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114925"/>
            <a:ext cx="5301312" cy="5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Quantifiable improvements in decision-making speed and performance tracking accuracy through data-driven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16487"/>
            <a:ext cx="215525" cy="301625"/>
          </a:xfrm>
          <a:custGeom>
            <a:avLst/>
            <a:gdLst/>
            <a:ahLst/>
            <a:cxnLst/>
            <a:rect l="l" t="t" r="r" b="b"/>
            <a:pathLst>
              <a:path w="215525" h="301625">
                <a:moveTo>
                  <a:pt x="0" y="0"/>
                </a:moveTo>
                <a:lnTo>
                  <a:pt x="215525" y="0"/>
                </a:lnTo>
                <a:lnTo>
                  <a:pt x="2155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973715">
            <a:off x="-920526" y="8096257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2210184"/>
            <a:ext cx="4513738" cy="6752131"/>
            <a:chOff x="0" y="0"/>
            <a:chExt cx="1058923" cy="15840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8923" cy="1584051"/>
            </a:xfrm>
            <a:custGeom>
              <a:avLst/>
              <a:gdLst/>
              <a:ahLst/>
              <a:cxnLst/>
              <a:rect l="l" t="t" r="r" b="b"/>
              <a:pathLst>
                <a:path w="1058923" h="1584051">
                  <a:moveTo>
                    <a:pt x="39449" y="0"/>
                  </a:moveTo>
                  <a:lnTo>
                    <a:pt x="1019474" y="0"/>
                  </a:lnTo>
                  <a:cubicBezTo>
                    <a:pt x="1041261" y="0"/>
                    <a:pt x="1058923" y="17662"/>
                    <a:pt x="1058923" y="39449"/>
                  </a:cubicBezTo>
                  <a:lnTo>
                    <a:pt x="1058923" y="1544601"/>
                  </a:lnTo>
                  <a:cubicBezTo>
                    <a:pt x="1058923" y="1566388"/>
                    <a:pt x="1041261" y="1584051"/>
                    <a:pt x="1019474" y="1584051"/>
                  </a:cubicBezTo>
                  <a:lnTo>
                    <a:pt x="39449" y="1584051"/>
                  </a:lnTo>
                  <a:cubicBezTo>
                    <a:pt x="17662" y="1584051"/>
                    <a:pt x="0" y="1566388"/>
                    <a:pt x="0" y="1544601"/>
                  </a:cubicBezTo>
                  <a:lnTo>
                    <a:pt x="0" y="39449"/>
                  </a:lnTo>
                  <a:cubicBezTo>
                    <a:pt x="0" y="17662"/>
                    <a:pt x="17662" y="0"/>
                    <a:pt x="39449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783279" y="2210184"/>
            <a:ext cx="4476021" cy="6072681"/>
            <a:chOff x="0" y="0"/>
            <a:chExt cx="1050075" cy="14246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0075" cy="1424652"/>
            </a:xfrm>
            <a:custGeom>
              <a:avLst/>
              <a:gdLst/>
              <a:ahLst/>
              <a:cxnLst/>
              <a:rect l="l" t="t" r="r" b="b"/>
              <a:pathLst>
                <a:path w="1050075" h="1424652">
                  <a:moveTo>
                    <a:pt x="39782" y="0"/>
                  </a:moveTo>
                  <a:lnTo>
                    <a:pt x="1010293" y="0"/>
                  </a:lnTo>
                  <a:cubicBezTo>
                    <a:pt x="1032264" y="0"/>
                    <a:pt x="1050075" y="17811"/>
                    <a:pt x="1050075" y="39782"/>
                  </a:cubicBezTo>
                  <a:lnTo>
                    <a:pt x="1050075" y="1384870"/>
                  </a:lnTo>
                  <a:cubicBezTo>
                    <a:pt x="1050075" y="1406841"/>
                    <a:pt x="1032264" y="1424652"/>
                    <a:pt x="1010293" y="1424652"/>
                  </a:cubicBezTo>
                  <a:lnTo>
                    <a:pt x="39782" y="1424652"/>
                  </a:lnTo>
                  <a:cubicBezTo>
                    <a:pt x="17811" y="1424652"/>
                    <a:pt x="0" y="1406841"/>
                    <a:pt x="0" y="1384870"/>
                  </a:cubicBezTo>
                  <a:lnTo>
                    <a:pt x="0" y="39782"/>
                  </a:lnTo>
                  <a:cubicBezTo>
                    <a:pt x="0" y="17811"/>
                    <a:pt x="17811" y="0"/>
                    <a:pt x="39782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182251" y="7444014"/>
            <a:ext cx="3678078" cy="1518301"/>
            <a:chOff x="0" y="0"/>
            <a:chExt cx="4026824" cy="16622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26824" cy="1662263"/>
            </a:xfrm>
            <a:custGeom>
              <a:avLst/>
              <a:gdLst/>
              <a:ahLst/>
              <a:cxnLst/>
              <a:rect l="l" t="t" r="r" b="b"/>
              <a:pathLst>
                <a:path w="4026824" h="1662263">
                  <a:moveTo>
                    <a:pt x="42098" y="0"/>
                  </a:moveTo>
                  <a:lnTo>
                    <a:pt x="3984727" y="0"/>
                  </a:lnTo>
                  <a:cubicBezTo>
                    <a:pt x="4007977" y="0"/>
                    <a:pt x="4026824" y="18848"/>
                    <a:pt x="4026824" y="42098"/>
                  </a:cubicBezTo>
                  <a:lnTo>
                    <a:pt x="4026824" y="1620165"/>
                  </a:lnTo>
                  <a:cubicBezTo>
                    <a:pt x="4026824" y="1643415"/>
                    <a:pt x="4007977" y="1662263"/>
                    <a:pt x="3984727" y="1662263"/>
                  </a:cubicBezTo>
                  <a:lnTo>
                    <a:pt x="42098" y="1662263"/>
                  </a:lnTo>
                  <a:cubicBezTo>
                    <a:pt x="18848" y="1662263"/>
                    <a:pt x="0" y="1643415"/>
                    <a:pt x="0" y="1620165"/>
                  </a:cubicBezTo>
                  <a:lnTo>
                    <a:pt x="0" y="42098"/>
                  </a:lnTo>
                  <a:cubicBezTo>
                    <a:pt x="0" y="18848"/>
                    <a:pt x="18848" y="0"/>
                    <a:pt x="42098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026824" cy="1700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533858" y="2353059"/>
            <a:ext cx="5220283" cy="207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-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Summary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83165" y="7574840"/>
            <a:ext cx="4521671" cy="89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with Power Query, Power Pivot, DAX Measures, Data Modeling, Pivot Tables, and Interactive Dashboards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65104" y="5486238"/>
            <a:ext cx="3957791" cy="89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End-to-end Excel BI solution demonstrating advanced analytical capabilities for McDonald's sales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7738" y="6942241"/>
            <a:ext cx="3092524" cy="45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5"/>
              </a:lnSpc>
            </a:pPr>
            <a:r>
              <a:rPr lang="en-US" sz="2432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Excellence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265" y="678387"/>
            <a:ext cx="1949360" cy="60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75814" y="678387"/>
            <a:ext cx="1158690" cy="298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0206" y="678387"/>
            <a:ext cx="1740094" cy="298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Contact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83238" y="7732395"/>
            <a:ext cx="2757692" cy="9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5"/>
              </a:lnSpc>
            </a:pPr>
            <a:r>
              <a:rPr lang="en-US" sz="2432" b="1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Full Dashboard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6462" y="7499338"/>
            <a:ext cx="742407" cy="7424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8563" y="0"/>
                  </a:moveTo>
                  <a:lnTo>
                    <a:pt x="604237" y="0"/>
                  </a:lnTo>
                  <a:cubicBezTo>
                    <a:pt x="719423" y="0"/>
                    <a:pt x="812800" y="93377"/>
                    <a:pt x="812800" y="208563"/>
                  </a:cubicBezTo>
                  <a:lnTo>
                    <a:pt x="812800" y="604237"/>
                  </a:lnTo>
                  <a:cubicBezTo>
                    <a:pt x="812800" y="719423"/>
                    <a:pt x="719423" y="812800"/>
                    <a:pt x="604237" y="812800"/>
                  </a:cubicBezTo>
                  <a:lnTo>
                    <a:pt x="208563" y="812800"/>
                  </a:lnTo>
                  <a:cubicBezTo>
                    <a:pt x="93377" y="812800"/>
                    <a:pt x="0" y="719423"/>
                    <a:pt x="0" y="604237"/>
                  </a:cubicBezTo>
                  <a:lnTo>
                    <a:pt x="0" y="208563"/>
                  </a:lnTo>
                  <a:cubicBezTo>
                    <a:pt x="0" y="93377"/>
                    <a:pt x="93377" y="0"/>
                    <a:pt x="208563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5278" y="722697"/>
            <a:ext cx="387335" cy="303725"/>
          </a:xfrm>
          <a:custGeom>
            <a:avLst/>
            <a:gdLst/>
            <a:ahLst/>
            <a:cxnLst/>
            <a:rect l="l" t="t" r="r" b="b"/>
            <a:pathLst>
              <a:path w="387335" h="303725">
                <a:moveTo>
                  <a:pt x="0" y="0"/>
                </a:moveTo>
                <a:lnTo>
                  <a:pt x="387335" y="0"/>
                </a:lnTo>
                <a:lnTo>
                  <a:pt x="387335" y="303725"/>
                </a:lnTo>
                <a:lnTo>
                  <a:pt x="0" y="3037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312449" y="1983038"/>
            <a:ext cx="8996535" cy="5116250"/>
            <a:chOff x="0" y="0"/>
            <a:chExt cx="1534854" cy="8728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4854" cy="872858"/>
            </a:xfrm>
            <a:custGeom>
              <a:avLst/>
              <a:gdLst/>
              <a:ahLst/>
              <a:cxnLst/>
              <a:rect l="l" t="t" r="r" b="b"/>
              <a:pathLst>
                <a:path w="1534854" h="872858">
                  <a:moveTo>
                    <a:pt x="19793" y="0"/>
                  </a:moveTo>
                  <a:lnTo>
                    <a:pt x="1515062" y="0"/>
                  </a:lnTo>
                  <a:cubicBezTo>
                    <a:pt x="1525993" y="0"/>
                    <a:pt x="1534854" y="8861"/>
                    <a:pt x="1534854" y="19793"/>
                  </a:cubicBezTo>
                  <a:lnTo>
                    <a:pt x="1534854" y="853066"/>
                  </a:lnTo>
                  <a:cubicBezTo>
                    <a:pt x="1534854" y="858315"/>
                    <a:pt x="1532769" y="863349"/>
                    <a:pt x="1529057" y="867061"/>
                  </a:cubicBezTo>
                  <a:cubicBezTo>
                    <a:pt x="1525345" y="870773"/>
                    <a:pt x="1520311" y="872858"/>
                    <a:pt x="1515062" y="872858"/>
                  </a:cubicBezTo>
                  <a:lnTo>
                    <a:pt x="19793" y="872858"/>
                  </a:lnTo>
                  <a:cubicBezTo>
                    <a:pt x="14543" y="872858"/>
                    <a:pt x="9509" y="870773"/>
                    <a:pt x="5797" y="867061"/>
                  </a:cubicBezTo>
                  <a:cubicBezTo>
                    <a:pt x="2085" y="863349"/>
                    <a:pt x="0" y="858315"/>
                    <a:pt x="0" y="853066"/>
                  </a:cubicBezTo>
                  <a:lnTo>
                    <a:pt x="0" y="19793"/>
                  </a:lnTo>
                  <a:cubicBezTo>
                    <a:pt x="0" y="14543"/>
                    <a:pt x="2085" y="9509"/>
                    <a:pt x="5797" y="5797"/>
                  </a:cubicBezTo>
                  <a:cubicBezTo>
                    <a:pt x="9509" y="2085"/>
                    <a:pt x="14543" y="0"/>
                    <a:pt x="19793" y="0"/>
                  </a:cubicBez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9973715">
            <a:off x="5459586" y="7966779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396503" y="7564413"/>
            <a:ext cx="2287584" cy="1239668"/>
            <a:chOff x="0" y="0"/>
            <a:chExt cx="390273" cy="2114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273" cy="211494"/>
            </a:xfrm>
            <a:custGeom>
              <a:avLst/>
              <a:gdLst/>
              <a:ahLst/>
              <a:cxnLst/>
              <a:rect l="l" t="t" r="r" b="b"/>
              <a:pathLst>
                <a:path w="390273" h="211494">
                  <a:moveTo>
                    <a:pt x="77839" y="0"/>
                  </a:moveTo>
                  <a:lnTo>
                    <a:pt x="312434" y="0"/>
                  </a:lnTo>
                  <a:cubicBezTo>
                    <a:pt x="333078" y="0"/>
                    <a:pt x="352877" y="8201"/>
                    <a:pt x="367475" y="22799"/>
                  </a:cubicBezTo>
                  <a:cubicBezTo>
                    <a:pt x="382072" y="37396"/>
                    <a:pt x="390273" y="57195"/>
                    <a:pt x="390273" y="77839"/>
                  </a:cubicBezTo>
                  <a:lnTo>
                    <a:pt x="390273" y="133654"/>
                  </a:lnTo>
                  <a:cubicBezTo>
                    <a:pt x="390273" y="176644"/>
                    <a:pt x="355423" y="211494"/>
                    <a:pt x="312434" y="211494"/>
                  </a:cubicBezTo>
                  <a:lnTo>
                    <a:pt x="77839" y="211494"/>
                  </a:lnTo>
                  <a:cubicBezTo>
                    <a:pt x="57195" y="211494"/>
                    <a:pt x="37396" y="203293"/>
                    <a:pt x="22799" y="188695"/>
                  </a:cubicBezTo>
                  <a:cubicBezTo>
                    <a:pt x="8201" y="174097"/>
                    <a:pt x="0" y="154299"/>
                    <a:pt x="0" y="133654"/>
                  </a:cubicBezTo>
                  <a:lnTo>
                    <a:pt x="0" y="77839"/>
                  </a:lnTo>
                  <a:cubicBezTo>
                    <a:pt x="0" y="34850"/>
                    <a:pt x="34850" y="0"/>
                    <a:pt x="77839" y="0"/>
                  </a:cubicBez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136462" y="8391332"/>
            <a:ext cx="4883317" cy="4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  <a:spcBef>
                <a:spcPct val="0"/>
              </a:spcBef>
            </a:pPr>
            <a:r>
              <a:rPr lang="en-US" sz="2485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analyst@dataportfolio.com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29998" y="2125913"/>
            <a:ext cx="7003223" cy="343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Let's Connect and Discuss Opportunities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29998" y="7270738"/>
            <a:ext cx="4810550" cy="23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2"/>
              </a:lnSpc>
            </a:pPr>
            <a:r>
              <a:rPr lang="en-US" sz="248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to New Opportunities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69251" y="7759507"/>
            <a:ext cx="7211202" cy="104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I'm actively seeking Data Analyst and Business Intelligence roles where I can leverage my Excel, Power Query, DAX, and dashboard development expertise to drive business insights.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265" y="687912"/>
            <a:ext cx="1949360" cy="68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Analytics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75814" y="687912"/>
            <a:ext cx="1158690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Portfolio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0206" y="687912"/>
            <a:ext cx="1740094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LinkedIn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4229" y="759873"/>
            <a:ext cx="249184" cy="231741"/>
          </a:xfrm>
          <a:custGeom>
            <a:avLst/>
            <a:gdLst/>
            <a:ahLst/>
            <a:cxnLst/>
            <a:rect l="l" t="t" r="r" b="b"/>
            <a:pathLst>
              <a:path w="249184" h="231741">
                <a:moveTo>
                  <a:pt x="0" y="0"/>
                </a:moveTo>
                <a:lnTo>
                  <a:pt x="249183" y="0"/>
                </a:lnTo>
                <a:lnTo>
                  <a:pt x="249183" y="231741"/>
                </a:lnTo>
                <a:lnTo>
                  <a:pt x="0" y="2317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4979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40433" y="807185"/>
            <a:ext cx="192788" cy="120230"/>
          </a:xfrm>
          <a:custGeom>
            <a:avLst/>
            <a:gdLst/>
            <a:ahLst/>
            <a:cxnLst/>
            <a:rect l="l" t="t" r="r" b="b"/>
            <a:pathLst>
              <a:path w="192788" h="120230">
                <a:moveTo>
                  <a:pt x="0" y="0"/>
                </a:moveTo>
                <a:lnTo>
                  <a:pt x="192788" y="0"/>
                </a:lnTo>
                <a:lnTo>
                  <a:pt x="192788" y="120230"/>
                </a:lnTo>
                <a:lnTo>
                  <a:pt x="0" y="120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5460393"/>
            <a:ext cx="18288000" cy="4998057"/>
            <a:chOff x="0" y="0"/>
            <a:chExt cx="4816593" cy="13163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316361"/>
            </a:xfrm>
            <a:custGeom>
              <a:avLst/>
              <a:gdLst/>
              <a:ahLst/>
              <a:cxnLst/>
              <a:rect l="l" t="t" r="r" b="b"/>
              <a:pathLst>
                <a:path w="4816592" h="1316361">
                  <a:moveTo>
                    <a:pt x="0" y="0"/>
                  </a:moveTo>
                  <a:lnTo>
                    <a:pt x="4816592" y="0"/>
                  </a:lnTo>
                  <a:lnTo>
                    <a:pt x="4816592" y="1316361"/>
                  </a:lnTo>
                  <a:lnTo>
                    <a:pt x="0" y="1316361"/>
                  </a:ln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0"/>
                  </a:srgbClr>
                </a:gs>
                <a:gs pos="100000">
                  <a:srgbClr val="0D0D0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1354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55159" y="1992772"/>
            <a:ext cx="6314346" cy="6564729"/>
            <a:chOff x="0" y="0"/>
            <a:chExt cx="949386" cy="9870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386" cy="987032"/>
            </a:xfrm>
            <a:custGeom>
              <a:avLst/>
              <a:gdLst/>
              <a:ahLst/>
              <a:cxnLst/>
              <a:rect l="l" t="t" r="r" b="b"/>
              <a:pathLst>
                <a:path w="949386" h="987032">
                  <a:moveTo>
                    <a:pt x="82148" y="0"/>
                  </a:moveTo>
                  <a:lnTo>
                    <a:pt x="867239" y="0"/>
                  </a:lnTo>
                  <a:cubicBezTo>
                    <a:pt x="889025" y="0"/>
                    <a:pt x="909920" y="8655"/>
                    <a:pt x="925326" y="24060"/>
                  </a:cubicBezTo>
                  <a:cubicBezTo>
                    <a:pt x="940731" y="39466"/>
                    <a:pt x="949386" y="60361"/>
                    <a:pt x="949386" y="82148"/>
                  </a:cubicBezTo>
                  <a:lnTo>
                    <a:pt x="949386" y="904885"/>
                  </a:lnTo>
                  <a:cubicBezTo>
                    <a:pt x="949386" y="950254"/>
                    <a:pt x="912607" y="987032"/>
                    <a:pt x="867239" y="987032"/>
                  </a:cubicBezTo>
                  <a:lnTo>
                    <a:pt x="82148" y="987032"/>
                  </a:lnTo>
                  <a:cubicBezTo>
                    <a:pt x="60361" y="987032"/>
                    <a:pt x="39466" y="978377"/>
                    <a:pt x="24060" y="962972"/>
                  </a:cubicBezTo>
                  <a:cubicBezTo>
                    <a:pt x="8655" y="947566"/>
                    <a:pt x="0" y="926672"/>
                    <a:pt x="0" y="904885"/>
                  </a:cubicBezTo>
                  <a:lnTo>
                    <a:pt x="0" y="82148"/>
                  </a:lnTo>
                  <a:cubicBezTo>
                    <a:pt x="0" y="36779"/>
                    <a:pt x="36779" y="0"/>
                    <a:pt x="82148" y="0"/>
                  </a:cubicBezTo>
                  <a:close/>
                </a:path>
              </a:pathLst>
            </a:custGeom>
            <a:solidFill>
              <a:srgbClr val="EAF20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49386" cy="1025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94532" y="7959421"/>
            <a:ext cx="3199759" cy="644824"/>
            <a:chOff x="0" y="0"/>
            <a:chExt cx="842735" cy="1698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2735" cy="169830"/>
            </a:xfrm>
            <a:custGeom>
              <a:avLst/>
              <a:gdLst/>
              <a:ahLst/>
              <a:cxnLst/>
              <a:rect l="l" t="t" r="r" b="b"/>
              <a:pathLst>
                <a:path w="842735" h="169830">
                  <a:moveTo>
                    <a:pt x="84915" y="0"/>
                  </a:moveTo>
                  <a:lnTo>
                    <a:pt x="757820" y="0"/>
                  </a:lnTo>
                  <a:cubicBezTo>
                    <a:pt x="804717" y="0"/>
                    <a:pt x="842735" y="38018"/>
                    <a:pt x="842735" y="84915"/>
                  </a:cubicBezTo>
                  <a:lnTo>
                    <a:pt x="842735" y="84915"/>
                  </a:lnTo>
                  <a:cubicBezTo>
                    <a:pt x="842735" y="107436"/>
                    <a:pt x="833788" y="129035"/>
                    <a:pt x="817864" y="144959"/>
                  </a:cubicBezTo>
                  <a:cubicBezTo>
                    <a:pt x="801939" y="160884"/>
                    <a:pt x="780341" y="169830"/>
                    <a:pt x="757820" y="169830"/>
                  </a:cubicBezTo>
                  <a:lnTo>
                    <a:pt x="84915" y="169830"/>
                  </a:lnTo>
                  <a:cubicBezTo>
                    <a:pt x="38018" y="169830"/>
                    <a:pt x="0" y="131812"/>
                    <a:pt x="0" y="84915"/>
                  </a:cubicBezTo>
                  <a:lnTo>
                    <a:pt x="0" y="84915"/>
                  </a:lnTo>
                  <a:cubicBezTo>
                    <a:pt x="0" y="38018"/>
                    <a:pt x="38018" y="0"/>
                    <a:pt x="84915" y="0"/>
                  </a:cubicBezTo>
                  <a:close/>
                </a:path>
              </a:pathLst>
            </a:custGeom>
            <a:solidFill>
              <a:srgbClr val="16F27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42735" cy="207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396515" y="2244301"/>
            <a:ext cx="5673413" cy="6042093"/>
            <a:chOff x="0" y="0"/>
            <a:chExt cx="759825" cy="809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9825" cy="809201"/>
            </a:xfrm>
            <a:custGeom>
              <a:avLst/>
              <a:gdLst/>
              <a:ahLst/>
              <a:cxnLst/>
              <a:rect l="l" t="t" r="r" b="b"/>
              <a:pathLst>
                <a:path w="759825" h="809201">
                  <a:moveTo>
                    <a:pt x="54584" y="0"/>
                  </a:moveTo>
                  <a:lnTo>
                    <a:pt x="705241" y="0"/>
                  </a:lnTo>
                  <a:cubicBezTo>
                    <a:pt x="719717" y="0"/>
                    <a:pt x="733601" y="5751"/>
                    <a:pt x="743838" y="15987"/>
                  </a:cubicBezTo>
                  <a:cubicBezTo>
                    <a:pt x="754074" y="26224"/>
                    <a:pt x="759825" y="40107"/>
                    <a:pt x="759825" y="54584"/>
                  </a:cubicBezTo>
                  <a:lnTo>
                    <a:pt x="759825" y="754617"/>
                  </a:lnTo>
                  <a:cubicBezTo>
                    <a:pt x="759825" y="769094"/>
                    <a:pt x="754074" y="782977"/>
                    <a:pt x="743838" y="793214"/>
                  </a:cubicBezTo>
                  <a:cubicBezTo>
                    <a:pt x="733601" y="803450"/>
                    <a:pt x="719717" y="809201"/>
                    <a:pt x="705241" y="809201"/>
                  </a:cubicBezTo>
                  <a:lnTo>
                    <a:pt x="54584" y="809201"/>
                  </a:lnTo>
                  <a:cubicBezTo>
                    <a:pt x="40107" y="809201"/>
                    <a:pt x="26224" y="803450"/>
                    <a:pt x="15987" y="793214"/>
                  </a:cubicBezTo>
                  <a:cubicBezTo>
                    <a:pt x="5751" y="782977"/>
                    <a:pt x="0" y="769094"/>
                    <a:pt x="0" y="754617"/>
                  </a:cubicBezTo>
                  <a:lnTo>
                    <a:pt x="0" y="54584"/>
                  </a:lnTo>
                  <a:cubicBezTo>
                    <a:pt x="0" y="40107"/>
                    <a:pt x="5751" y="26224"/>
                    <a:pt x="15987" y="15987"/>
                  </a:cubicBezTo>
                  <a:cubicBezTo>
                    <a:pt x="26224" y="5751"/>
                    <a:pt x="40107" y="0"/>
                    <a:pt x="54584" y="0"/>
                  </a:cubicBez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2032045"/>
            <a:ext cx="9131664" cy="4865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69"/>
              </a:lnSpc>
            </a:pPr>
            <a:r>
              <a:rPr lang="en-US" sz="19360" b="1" spc="-96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Let's</a:t>
            </a:r>
          </a:p>
          <a:p>
            <a:pPr marL="0" lvl="0" indent="0" algn="l">
              <a:lnSpc>
                <a:spcPts val="16069"/>
              </a:lnSpc>
            </a:pPr>
            <a:r>
              <a:rPr lang="en-US" sz="19360" b="1" spc="-96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Connect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912976"/>
            <a:ext cx="4234623" cy="59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1"/>
              </a:lnSpc>
            </a:pPr>
            <a:r>
              <a:rPr lang="en-US" sz="2171" b="1" spc="-10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to Data Analyst opportunities in Business Intelligence &amp; Analytics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2900" y="8161183"/>
            <a:ext cx="2863023" cy="17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5"/>
              </a:lnSpc>
            </a:pPr>
            <a:r>
              <a:rPr lang="en-US" sz="1255" b="1" spc="-62">
                <a:solidFill>
                  <a:srgbClr val="0D0D0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Get In Touch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8265" y="697437"/>
            <a:ext cx="1949360" cy="20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25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McDonald's Sales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75814" y="697437"/>
            <a:ext cx="1158690" cy="20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25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Portfolio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900206" y="697437"/>
            <a:ext cx="1740094" cy="20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25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Contact</a:t>
            </a:r>
          </a:p>
        </p:txBody>
      </p:sp>
      <p:sp>
        <p:nvSpPr>
          <p:cNvPr id="23" name="Freeform 23"/>
          <p:cNvSpPr/>
          <p:nvPr/>
        </p:nvSpPr>
        <p:spPr>
          <a:xfrm rot="9973715">
            <a:off x="-2687740" y="8409466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1" y="0"/>
                </a:lnTo>
                <a:lnTo>
                  <a:pt x="4637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658</Words>
  <Application>Microsoft Office PowerPoint</Application>
  <PresentationFormat>Custom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Helvetica World Bold</vt:lpstr>
      <vt:lpstr>Arial</vt:lpstr>
      <vt:lpstr>Helvetica World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McDonald’s Data Analytics Project</dc:title>
  <cp:lastModifiedBy>jainpankhvi@gmail.com</cp:lastModifiedBy>
  <cp:revision>1</cp:revision>
  <dcterms:created xsi:type="dcterms:W3CDTF">2006-08-16T00:00:00Z</dcterms:created>
  <dcterms:modified xsi:type="dcterms:W3CDTF">2026-05-07T17:30:30Z</dcterms:modified>
  <dc:identifier>DAHI_5ZCwHU</dc:identifier>
</cp:coreProperties>
</file>